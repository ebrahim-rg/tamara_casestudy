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69" r:id="rId5"/>
    <p:sldId id="270" r:id="rId6"/>
    <p:sldId id="261" r:id="rId7"/>
    <p:sldId id="262" r:id="rId8"/>
    <p:sldId id="263" r:id="rId9"/>
    <p:sldId id="264" r:id="rId10"/>
    <p:sldId id="259" r:id="rId11"/>
  </p:sldIdLst>
  <p:sldSz cx="18288000" cy="10287000"/>
  <p:notesSz cx="6858000" cy="9144000"/>
  <p:embeddedFontLs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League Spartan" panose="020B0604020202020204" charset="0"/>
      <p:regular r:id="rId15"/>
    </p:embeddedFont>
    <p:embeddedFont>
      <p:font typeface="TT Hove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3447" autoAdjust="0"/>
  </p:normalViewPr>
  <p:slideViewPr>
    <p:cSldViewPr>
      <p:cViewPr varScale="1">
        <p:scale>
          <a:sx n="42" d="100"/>
          <a:sy n="42" d="100"/>
        </p:scale>
        <p:origin x="54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431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Narrative before execution — I do not brief the design team until the CMO has approved the story we're telling. The visual identity of our booth, our banners, our digital presence — all of it must serve one coherent message. Dependency-first planning — before I build the timeline, I map the chains. Finding the critical path in Week 1 is planning. Finding it in Week 8 is crisis management. Speed through clarity — the fastest way to slow a project down is ambiguity about ownership. I eliminate that in Week 12. And build once, scale always — this is my direct answer to what a brand-new Communications function needs most. Not just a plan for one event. A system that makes every future event better than the last.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Full project timeline — 17 columns, 8 departments, color-coded. Three risk flags mark the no-miss milestones. Week 8 — CEO keynote topic confirmed with Tahaluf's speaking coordinator or we lose the speaking slot. Week 6 — all physical design assets submitted for Tahaluf brand approval. Their review takes 2 weeks minimum. Day 1 — the announcement sequence: stage, press release, social, media — coordinated in 15 minutes. That requires Legal, PR, Social, and CEO Office aligned days before, not hours. PMO runs the full width — present and accountable from Week 12 through the post-event close, including building the operating system frameworks in P1 and P2. The MOU documentation in P1 captures any partnerships or deals initiated at the event for formal follow-up.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ROI is only meaningful if agreed before the event — not assessed retrospectively to make it look good. I'd propose these four categories and specific targets to the CMO in Week 12. So that every decision in the 12-week plan can be tested: does this move these numbers? Brand ROI tells us how the story landed. Commercial ROI tells us whether the event generated real business momentum. Operational ROI tells us whether I did my job — budget under 5% variance, all 30 Founding Partner benefits activated. Strategic ROI tells us whether we moved the needle with the audiences that define Tamara's future. I'll flag one specific metric: the shift from 'BNPL company' to 'financial super-app' in how media describes Tamara. That's what we're trying to achieve. That's the measure of whether the narrative landed.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Everything in this plan serves one outcome — a Tamara that shows up at Money 20/20 not as a sponsor buying visibility, but as the defining company of GCC fintech declaring its next chapter. The operational system I've built — the stakeholder architecture, the 12-week plan, the in-event playbook, the ROI framework, the operating manual — all of it exists to protect one thing: the story. Because Tamara has earned the right to tell it. my job is to ensures Tamara doesn’t just attend Money20/20 — it leads the conversation! Thank you.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2.png"/><Relationship Id="rId10" Type="http://schemas.openxmlformats.org/officeDocument/2006/relationships/image" Target="../media/image11.svg"/><Relationship Id="rId4" Type="http://schemas.openxmlformats.org/officeDocument/2006/relationships/image" Target="../media/image7.jpe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4.png"/><Relationship Id="rId3" Type="http://schemas.openxmlformats.org/officeDocument/2006/relationships/image" Target="../media/image7.jpeg"/><Relationship Id="rId7" Type="http://schemas.openxmlformats.org/officeDocument/2006/relationships/image" Target="../media/image23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.pn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tamara-casestudy.vercel.app/Framework_3_12Week_Timeline_Template.html" TargetMode="External"/><Relationship Id="rId4" Type="http://schemas.openxmlformats.org/officeDocument/2006/relationships/hyperlink" Target="https://tamara-casestudy.vercel.app/Framework_2_RACI_Master_Template.html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tamara-casestudy.vercel.app/Framework_6_Lessons_Learned_Log.html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tamara-casestudy.vercel.app/Framework_1_Sponsorship_Evaluation_Scorecard.html" TargetMode="External"/><Relationship Id="rId4" Type="http://schemas.openxmlformats.org/officeDocument/2006/relationships/hyperlink" Target="https://tamara-casestudy.vercel.app/Framework_5_PostEvent_ROI_Dashboard.html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7.svg"/><Relationship Id="rId4" Type="http://schemas.openxmlformats.org/officeDocument/2006/relationships/hyperlink" Target="https://tamara-casestudy.vercel.app/Framework_5_PostEvent_ROI_Dashboard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00158" cy="10287000"/>
          </a:xfrm>
          <a:custGeom>
            <a:avLst/>
            <a:gdLst/>
            <a:ahLst/>
            <a:cxnLst/>
            <a:rect l="l" t="t" r="r" b="b"/>
            <a:pathLst>
              <a:path w="7500158" h="10287000">
                <a:moveTo>
                  <a:pt x="0" y="0"/>
                </a:moveTo>
                <a:lnTo>
                  <a:pt x="7500158" y="0"/>
                </a:lnTo>
                <a:lnTo>
                  <a:pt x="7500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 rot="-10800000">
            <a:off x="10787842" y="0"/>
            <a:ext cx="7500158" cy="10287000"/>
          </a:xfrm>
          <a:custGeom>
            <a:avLst/>
            <a:gdLst/>
            <a:ahLst/>
            <a:cxnLst/>
            <a:rect l="l" t="t" r="r" b="b"/>
            <a:pathLst>
              <a:path w="7500158" h="10287000">
                <a:moveTo>
                  <a:pt x="0" y="0"/>
                </a:moveTo>
                <a:lnTo>
                  <a:pt x="7500158" y="0"/>
                </a:lnTo>
                <a:lnTo>
                  <a:pt x="7500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4" name="Group 4"/>
          <p:cNvGrpSpPr/>
          <p:nvPr/>
        </p:nvGrpSpPr>
        <p:grpSpPr>
          <a:xfrm>
            <a:off x="4839067" y="1434653"/>
            <a:ext cx="4652133" cy="1175056"/>
            <a:chOff x="0" y="0"/>
            <a:chExt cx="6202844" cy="1566741"/>
          </a:xfrm>
        </p:grpSpPr>
        <p:sp>
          <p:nvSpPr>
            <p:cNvPr id="5" name="Freeform 5"/>
            <p:cNvSpPr/>
            <p:nvPr/>
          </p:nvSpPr>
          <p:spPr>
            <a:xfrm>
              <a:off x="5460651" y="480505"/>
              <a:ext cx="742193" cy="742193"/>
            </a:xfrm>
            <a:custGeom>
              <a:avLst/>
              <a:gdLst/>
              <a:ahLst/>
              <a:cxnLst/>
              <a:rect l="l" t="t" r="r" b="b"/>
              <a:pathLst>
                <a:path w="742193" h="742193">
                  <a:moveTo>
                    <a:pt x="0" y="0"/>
                  </a:moveTo>
                  <a:lnTo>
                    <a:pt x="742193" y="0"/>
                  </a:lnTo>
                  <a:lnTo>
                    <a:pt x="742193" y="742193"/>
                  </a:lnTo>
                  <a:lnTo>
                    <a:pt x="0" y="74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5734862" cy="1566741"/>
            </a:xfrm>
            <a:custGeom>
              <a:avLst/>
              <a:gdLst/>
              <a:ahLst/>
              <a:cxnLst/>
              <a:rect l="l" t="t" r="r" b="b"/>
              <a:pathLst>
                <a:path w="5734862" h="1566741">
                  <a:moveTo>
                    <a:pt x="0" y="0"/>
                  </a:moveTo>
                  <a:lnTo>
                    <a:pt x="5734862" y="0"/>
                  </a:lnTo>
                  <a:lnTo>
                    <a:pt x="5734862" y="1566741"/>
                  </a:lnTo>
                  <a:lnTo>
                    <a:pt x="0" y="1566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Freeform 7"/>
          <p:cNvSpPr/>
          <p:nvPr/>
        </p:nvSpPr>
        <p:spPr>
          <a:xfrm>
            <a:off x="11091036" y="1625970"/>
            <a:ext cx="2357897" cy="993264"/>
          </a:xfrm>
          <a:custGeom>
            <a:avLst/>
            <a:gdLst/>
            <a:ahLst/>
            <a:cxnLst/>
            <a:rect l="l" t="t" r="r" b="b"/>
            <a:pathLst>
              <a:path w="2357897" h="993264">
                <a:moveTo>
                  <a:pt x="0" y="0"/>
                </a:moveTo>
                <a:lnTo>
                  <a:pt x="2357897" y="0"/>
                </a:lnTo>
                <a:lnTo>
                  <a:pt x="2357897" y="993264"/>
                </a:lnTo>
                <a:lnTo>
                  <a:pt x="0" y="99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8" name="Group 8"/>
          <p:cNvGrpSpPr/>
          <p:nvPr/>
        </p:nvGrpSpPr>
        <p:grpSpPr>
          <a:xfrm>
            <a:off x="-1016675" y="5639183"/>
            <a:ext cx="19561089" cy="896410"/>
            <a:chOff x="0" y="0"/>
            <a:chExt cx="7362846" cy="3374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2846" cy="337411"/>
            </a:xfrm>
            <a:custGeom>
              <a:avLst/>
              <a:gdLst/>
              <a:ahLst/>
              <a:cxnLst/>
              <a:rect l="l" t="t" r="r" b="b"/>
              <a:pathLst>
                <a:path w="7362846" h="337411">
                  <a:moveTo>
                    <a:pt x="6333" y="0"/>
                  </a:moveTo>
                  <a:lnTo>
                    <a:pt x="7356514" y="0"/>
                  </a:lnTo>
                  <a:cubicBezTo>
                    <a:pt x="7358193" y="0"/>
                    <a:pt x="7359803" y="667"/>
                    <a:pt x="7360991" y="1855"/>
                  </a:cubicBezTo>
                  <a:cubicBezTo>
                    <a:pt x="7362179" y="3042"/>
                    <a:pt x="7362846" y="4653"/>
                    <a:pt x="7362846" y="6333"/>
                  </a:cubicBezTo>
                  <a:lnTo>
                    <a:pt x="7362846" y="331079"/>
                  </a:lnTo>
                  <a:cubicBezTo>
                    <a:pt x="7362846" y="332758"/>
                    <a:pt x="7362179" y="334369"/>
                    <a:pt x="7360991" y="335557"/>
                  </a:cubicBezTo>
                  <a:cubicBezTo>
                    <a:pt x="7359803" y="336744"/>
                    <a:pt x="7358193" y="337411"/>
                    <a:pt x="7356514" y="337411"/>
                  </a:cubicBezTo>
                  <a:lnTo>
                    <a:pt x="6333" y="337411"/>
                  </a:lnTo>
                  <a:cubicBezTo>
                    <a:pt x="4653" y="337411"/>
                    <a:pt x="3042" y="336744"/>
                    <a:pt x="1855" y="335557"/>
                  </a:cubicBezTo>
                  <a:cubicBezTo>
                    <a:pt x="667" y="334369"/>
                    <a:pt x="0" y="332758"/>
                    <a:pt x="0" y="331079"/>
                  </a:cubicBezTo>
                  <a:lnTo>
                    <a:pt x="0" y="6333"/>
                  </a:lnTo>
                  <a:cubicBezTo>
                    <a:pt x="0" y="4653"/>
                    <a:pt x="667" y="3042"/>
                    <a:pt x="1855" y="1855"/>
                  </a:cubicBezTo>
                  <a:cubicBezTo>
                    <a:pt x="3042" y="667"/>
                    <a:pt x="4653" y="0"/>
                    <a:pt x="63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0A0E1A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7362846" cy="308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218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-331385" y="4998871"/>
            <a:ext cx="18875799" cy="0"/>
          </a:xfrm>
          <a:prstGeom prst="line">
            <a:avLst/>
          </a:prstGeom>
          <a:ln w="9525" cap="rnd">
            <a:gradFill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2" name="AutoShape 12"/>
          <p:cNvSpPr/>
          <p:nvPr/>
        </p:nvSpPr>
        <p:spPr>
          <a:xfrm>
            <a:off x="-331385" y="7175907"/>
            <a:ext cx="18875799" cy="0"/>
          </a:xfrm>
          <a:prstGeom prst="line">
            <a:avLst/>
          </a:prstGeom>
          <a:ln w="9525" cap="rnd">
            <a:gradFill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Box 13"/>
          <p:cNvSpPr txBox="1"/>
          <p:nvPr/>
        </p:nvSpPr>
        <p:spPr>
          <a:xfrm>
            <a:off x="10034339" y="1671535"/>
            <a:ext cx="380422" cy="83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20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399" b="1" i="0" u="none" strike="noStrike" kern="1200" cap="none" spc="-12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53363" y="5883947"/>
            <a:ext cx="2181275" cy="492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0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20" b="0" i="0" u="none" strike="noStrike" kern="1200" cap="none" spc="-7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6332" y="8249704"/>
            <a:ext cx="1288851" cy="92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64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</a:p>
          <a:p>
            <a:pPr marL="0" marR="0" lvl="0" indent="0" algn="l" defTabSz="914400" rtl="0" eaLnBrk="1" fontAlgn="auto" latinLnBrk="0" hangingPunct="1">
              <a:lnSpc>
                <a:spcPts val="31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64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Story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6332" y="8984752"/>
            <a:ext cx="2167676" cy="42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C48C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Tamara’s Position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218663" y="8243446"/>
            <a:ext cx="1876842" cy="1107260"/>
            <a:chOff x="-33895" y="66675"/>
            <a:chExt cx="2502456" cy="1476346"/>
          </a:xfrm>
        </p:grpSpPr>
        <p:sp>
          <p:nvSpPr>
            <p:cNvPr id="19" name="TextBox 19"/>
            <p:cNvSpPr txBox="1"/>
            <p:nvPr/>
          </p:nvSpPr>
          <p:spPr>
            <a:xfrm>
              <a:off x="12802" y="66675"/>
              <a:ext cx="2455759" cy="1099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the </a:t>
              </a:r>
            </a:p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Platform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33895" y="1080160"/>
              <a:ext cx="2455759" cy="4628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300" b="1" i="0" u="none" strike="noStrike" kern="1200" cap="none" spc="0" normalizeH="0" baseline="0" noProof="0" dirty="0">
                  <a:ln>
                    <a:noFill/>
                  </a:ln>
                  <a:solidFill>
                    <a:srgbClr val="00C48C"/>
                  </a:solidFill>
                  <a:effectLst/>
                  <a:uLnTx/>
                  <a:uFillTx/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event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125580" y="8193440"/>
            <a:ext cx="2542255" cy="1188685"/>
            <a:chOff x="0" y="0"/>
            <a:chExt cx="3389673" cy="158491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66675"/>
              <a:ext cx="2017233" cy="1099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the </a:t>
              </a:r>
            </a:p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People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80160"/>
              <a:ext cx="3389673" cy="50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300" b="1" i="0" u="none" strike="noStrike" kern="1200" cap="none" spc="0" normalizeH="0" baseline="0" noProof="0">
                  <a:ln>
                    <a:noFill/>
                  </a:ln>
                  <a:solidFill>
                    <a:srgbClr val="00C48C"/>
                  </a:solidFill>
                  <a:effectLst/>
                  <a:uLnTx/>
                  <a:uFillTx/>
                  <a:latin typeface="Calibri (MS) Bold"/>
                  <a:ea typeface="Calibri (MS) Bold"/>
                  <a:cs typeface="Calibri (MS) Bold"/>
                  <a:sym typeface="Calibri (MS) Bold"/>
                </a:rPr>
                <a:t>Stakeholder Strategy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97910" y="8193440"/>
            <a:ext cx="3002134" cy="1217368"/>
            <a:chOff x="0" y="0"/>
            <a:chExt cx="4002845" cy="1623157"/>
          </a:xfrm>
        </p:grpSpPr>
        <p:sp>
          <p:nvSpPr>
            <p:cNvPr id="25" name="TextBox 25"/>
            <p:cNvSpPr txBox="1"/>
            <p:nvPr/>
          </p:nvSpPr>
          <p:spPr>
            <a:xfrm>
              <a:off x="0" y="66675"/>
              <a:ext cx="1913350" cy="1099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the</a:t>
              </a:r>
            </a:p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Engine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118404"/>
              <a:ext cx="4002845" cy="50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300" b="1" i="0" u="none" strike="noStrike" kern="1200" cap="none" spc="0" normalizeH="0" baseline="0" noProof="0">
                  <a:ln>
                    <a:noFill/>
                  </a:ln>
                  <a:solidFill>
                    <a:srgbClr val="00C48C"/>
                  </a:solidFill>
                  <a:effectLst/>
                  <a:uLnTx/>
                  <a:uFillTx/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Operations &amp; Excecution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727702" y="8193440"/>
            <a:ext cx="2438733" cy="1188685"/>
            <a:chOff x="0" y="0"/>
            <a:chExt cx="3251643" cy="1584913"/>
          </a:xfrm>
        </p:grpSpPr>
        <p:sp>
          <p:nvSpPr>
            <p:cNvPr id="28" name="TextBox 28"/>
            <p:cNvSpPr txBox="1"/>
            <p:nvPr/>
          </p:nvSpPr>
          <p:spPr>
            <a:xfrm>
              <a:off x="0" y="66675"/>
              <a:ext cx="1627433" cy="1099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the</a:t>
              </a:r>
            </a:p>
            <a:p>
              <a:pPr marL="0" marR="0" lvl="0" indent="0" algn="l" defTabSz="914400" rtl="0" eaLnBrk="1" fontAlgn="auto" latinLnBrk="0" hangingPunct="1">
                <a:lnSpc>
                  <a:spcPts val="31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-6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Proof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22" y="1080160"/>
              <a:ext cx="3248422" cy="50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300" b="1" i="0" u="none" strike="noStrike" kern="1200" cap="none" spc="0" normalizeH="0" baseline="0" noProof="0">
                  <a:ln>
                    <a:noFill/>
                  </a:ln>
                  <a:solidFill>
                    <a:srgbClr val="00C48C"/>
                  </a:solidFill>
                  <a:effectLst/>
                  <a:uLnTx/>
                  <a:uFillTx/>
                  <a:latin typeface="Calibri (MS) Bold"/>
                  <a:ea typeface="Calibri (MS) Bold"/>
                  <a:cs typeface="Calibri (MS) Bold"/>
                  <a:sym typeface="Calibri (MS) Bold"/>
                </a:rPr>
                <a:t>ROI &amp; Frameworkds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584138" y="3639653"/>
            <a:ext cx="1111972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6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0" i="0" u="none" strike="noStrike" kern="1200" cap="none" spc="-6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kumimoji="0" lang="en-US" sz="3299" b="1" i="0" u="none" strike="noStrike" kern="1200" cap="none" spc="-6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ost Customer-Centric</a:t>
            </a:r>
            <a:r>
              <a:rPr kumimoji="0" lang="en-US" sz="3299" b="1" i="0" u="none" strike="noStrike" kern="1200" cap="none" spc="-65" normalizeH="0" baseline="0" noProof="0">
                <a:ln>
                  <a:noFill/>
                </a:ln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 Financial Super-App </a:t>
            </a:r>
            <a:r>
              <a:rPr kumimoji="0" lang="en-US" sz="3299" b="1" i="0" u="none" strike="noStrike" kern="1200" cap="none" spc="-6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on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27625" y="3536844"/>
            <a:ext cx="669470" cy="6694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4306" tIns="54306" rIns="54306" bIns="54306" rtlCol="0" anchor="ctr"/>
            <a:lstStyle/>
            <a:p>
              <a:pPr algn="ctr">
                <a:lnSpc>
                  <a:spcPts val="227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2616047" y="3425265"/>
            <a:ext cx="892627" cy="892627"/>
          </a:xfrm>
          <a:custGeom>
            <a:avLst/>
            <a:gdLst/>
            <a:ahLst/>
            <a:cxnLst/>
            <a:rect l="l" t="t" r="r" b="b"/>
            <a:pathLst>
              <a:path w="892627" h="892627">
                <a:moveTo>
                  <a:pt x="0" y="0"/>
                </a:moveTo>
                <a:lnTo>
                  <a:pt x="892627" y="0"/>
                </a:lnTo>
                <a:lnTo>
                  <a:pt x="892627" y="892627"/>
                </a:lnTo>
                <a:lnTo>
                  <a:pt x="0" y="892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6665320" y="3536844"/>
            <a:ext cx="669470" cy="6694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4306" tIns="54306" rIns="54306" bIns="54306" rtlCol="0" anchor="ctr"/>
            <a:lstStyle/>
            <a:p>
              <a:pPr algn="ctr">
                <a:lnSpc>
                  <a:spcPts val="227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6553741" y="3425265"/>
            <a:ext cx="892627" cy="892627"/>
          </a:xfrm>
          <a:custGeom>
            <a:avLst/>
            <a:gdLst/>
            <a:ahLst/>
            <a:cxnLst/>
            <a:rect l="l" t="t" r="r" b="b"/>
            <a:pathLst>
              <a:path w="892627" h="892627">
                <a:moveTo>
                  <a:pt x="0" y="0"/>
                </a:moveTo>
                <a:lnTo>
                  <a:pt x="892627" y="0"/>
                </a:lnTo>
                <a:lnTo>
                  <a:pt x="892627" y="892627"/>
                </a:lnTo>
                <a:lnTo>
                  <a:pt x="0" y="892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10" name="Group 10"/>
          <p:cNvGrpSpPr/>
          <p:nvPr/>
        </p:nvGrpSpPr>
        <p:grpSpPr>
          <a:xfrm>
            <a:off x="10603014" y="3536844"/>
            <a:ext cx="669470" cy="66947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4306" tIns="54306" rIns="54306" bIns="54306" rtlCol="0" anchor="ctr"/>
            <a:lstStyle/>
            <a:p>
              <a:pPr algn="ctr">
                <a:lnSpc>
                  <a:spcPts val="227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491435" y="3425265"/>
            <a:ext cx="892627" cy="892627"/>
          </a:xfrm>
          <a:custGeom>
            <a:avLst/>
            <a:gdLst/>
            <a:ahLst/>
            <a:cxnLst/>
            <a:rect l="l" t="t" r="r" b="b"/>
            <a:pathLst>
              <a:path w="892627" h="892627">
                <a:moveTo>
                  <a:pt x="0" y="0"/>
                </a:moveTo>
                <a:lnTo>
                  <a:pt x="892628" y="0"/>
                </a:lnTo>
                <a:lnTo>
                  <a:pt x="892628" y="892627"/>
                </a:lnTo>
                <a:lnTo>
                  <a:pt x="0" y="892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" name="AutoShape 14"/>
          <p:cNvSpPr/>
          <p:nvPr/>
        </p:nvSpPr>
        <p:spPr>
          <a:xfrm flipV="1">
            <a:off x="10937749" y="2659977"/>
            <a:ext cx="0" cy="76528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sp>
        <p:nvSpPr>
          <p:cNvPr id="15" name="AutoShape 15"/>
          <p:cNvSpPr/>
          <p:nvPr/>
        </p:nvSpPr>
        <p:spPr>
          <a:xfrm flipV="1">
            <a:off x="3062360" y="2659977"/>
            <a:ext cx="0" cy="76528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AutoShape 16"/>
          <p:cNvSpPr/>
          <p:nvPr/>
        </p:nvSpPr>
        <p:spPr>
          <a:xfrm flipV="1">
            <a:off x="3508674" y="3871579"/>
            <a:ext cx="304506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sp>
        <p:nvSpPr>
          <p:cNvPr id="17" name="AutoShape 17"/>
          <p:cNvSpPr/>
          <p:nvPr/>
        </p:nvSpPr>
        <p:spPr>
          <a:xfrm>
            <a:off x="11384063" y="3871579"/>
            <a:ext cx="304506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sp>
        <p:nvSpPr>
          <p:cNvPr id="18" name="AutoShape 18"/>
          <p:cNvSpPr/>
          <p:nvPr/>
        </p:nvSpPr>
        <p:spPr>
          <a:xfrm flipV="1">
            <a:off x="7446368" y="3852529"/>
            <a:ext cx="304506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sp>
        <p:nvSpPr>
          <p:cNvPr id="19" name="AutoShape 19"/>
          <p:cNvSpPr/>
          <p:nvPr/>
        </p:nvSpPr>
        <p:spPr>
          <a:xfrm>
            <a:off x="7000055" y="4317892"/>
            <a:ext cx="0" cy="65565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grpSp>
        <p:nvGrpSpPr>
          <p:cNvPr id="20" name="Group 20"/>
          <p:cNvGrpSpPr/>
          <p:nvPr/>
        </p:nvGrpSpPr>
        <p:grpSpPr>
          <a:xfrm rot="-10800000">
            <a:off x="14540708" y="3536844"/>
            <a:ext cx="669470" cy="66947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4306" tIns="54306" rIns="54306" bIns="54306" rtlCol="0" anchor="ctr"/>
            <a:lstStyle/>
            <a:p>
              <a:pPr algn="ctr">
                <a:lnSpc>
                  <a:spcPts val="227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-10800000">
            <a:off x="14429130" y="3425265"/>
            <a:ext cx="892627" cy="892627"/>
          </a:xfrm>
          <a:custGeom>
            <a:avLst/>
            <a:gdLst/>
            <a:ahLst/>
            <a:cxnLst/>
            <a:rect l="l" t="t" r="r" b="b"/>
            <a:pathLst>
              <a:path w="892627" h="892627">
                <a:moveTo>
                  <a:pt x="0" y="0"/>
                </a:moveTo>
                <a:lnTo>
                  <a:pt x="892627" y="0"/>
                </a:lnTo>
                <a:lnTo>
                  <a:pt x="892627" y="892627"/>
                </a:lnTo>
                <a:lnTo>
                  <a:pt x="0" y="892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4" name="AutoShape 24"/>
          <p:cNvSpPr/>
          <p:nvPr/>
        </p:nvSpPr>
        <p:spPr>
          <a:xfrm>
            <a:off x="14875443" y="4317892"/>
            <a:ext cx="0" cy="65565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PK"/>
          </a:p>
        </p:txBody>
      </p:sp>
      <p:grpSp>
        <p:nvGrpSpPr>
          <p:cNvPr id="25" name="Group 25"/>
          <p:cNvGrpSpPr/>
          <p:nvPr/>
        </p:nvGrpSpPr>
        <p:grpSpPr>
          <a:xfrm>
            <a:off x="1127973" y="4062153"/>
            <a:ext cx="3964025" cy="1584167"/>
            <a:chOff x="0" y="0"/>
            <a:chExt cx="7443897" cy="29748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43896" cy="2974848"/>
            </a:xfrm>
            <a:custGeom>
              <a:avLst/>
              <a:gdLst/>
              <a:ahLst/>
              <a:cxnLst/>
              <a:rect l="l" t="t" r="r" b="b"/>
              <a:pathLst>
                <a:path w="7443896" h="2974848">
                  <a:moveTo>
                    <a:pt x="0" y="0"/>
                  </a:moveTo>
                  <a:lnTo>
                    <a:pt x="7443896" y="0"/>
                  </a:lnTo>
                  <a:lnTo>
                    <a:pt x="7443896" y="2974848"/>
                  </a:lnTo>
                  <a:lnTo>
                    <a:pt x="0" y="29748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336" r="1678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443897" cy="3012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BNPL in KSA.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interest. Shariah-compliant.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for the 85% without credit cards.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38955" y="2464855"/>
            <a:ext cx="3261409" cy="1236669"/>
            <a:chOff x="0" y="0"/>
            <a:chExt cx="6124479" cy="23222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124479" cy="2322294"/>
            </a:xfrm>
            <a:custGeom>
              <a:avLst/>
              <a:gdLst/>
              <a:ahLst/>
              <a:cxnLst/>
              <a:rect l="l" t="t" r="r" b="b"/>
              <a:pathLst>
                <a:path w="6124479" h="2322294">
                  <a:moveTo>
                    <a:pt x="0" y="0"/>
                  </a:moveTo>
                  <a:lnTo>
                    <a:pt x="6124479" y="0"/>
                  </a:lnTo>
                  <a:lnTo>
                    <a:pt x="6124479" y="2322294"/>
                  </a:lnTo>
                  <a:lnTo>
                    <a:pt x="0" y="23222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502" r="-1139" b="-2809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6124479" cy="2360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Series C. $340M raised.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$1B valuation. 20M+ customers.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 proven.</a:t>
              </a:r>
            </a:p>
            <a:p>
              <a:pPr algn="ctr">
                <a:lnSpc>
                  <a:spcPts val="2279"/>
                </a:lnSpc>
              </a:pPr>
              <a:endParaRPr lang="en-US" sz="19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31355" y="4344679"/>
            <a:ext cx="3646656" cy="1019115"/>
            <a:chOff x="0" y="0"/>
            <a:chExt cx="6847921" cy="191375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47921" cy="1913758"/>
            </a:xfrm>
            <a:custGeom>
              <a:avLst/>
              <a:gdLst/>
              <a:ahLst/>
              <a:cxnLst/>
              <a:rect l="l" t="t" r="r" b="b"/>
              <a:pathLst>
                <a:path w="6847921" h="1913758">
                  <a:moveTo>
                    <a:pt x="0" y="0"/>
                  </a:moveTo>
                  <a:lnTo>
                    <a:pt x="6847921" y="0"/>
                  </a:lnTo>
                  <a:lnTo>
                    <a:pt x="6847921" y="1913758"/>
                  </a:lnTo>
                  <a:lnTo>
                    <a:pt x="0" y="19137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019" r="9545" b="-5544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6847921" cy="1942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4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SAMA Consumer Finance License.</a:t>
              </a:r>
            </a:p>
            <a:p>
              <a:pPr algn="ctr">
                <a:lnSpc>
                  <a:spcPts val="2184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fintech startup in KSA history.</a:t>
              </a:r>
            </a:p>
            <a:p>
              <a:pPr algn="ctr">
                <a:lnSpc>
                  <a:spcPts val="2184"/>
                </a:lnSpc>
              </a:pP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Now a regulated financial institution.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006436" y="2343267"/>
            <a:ext cx="3738015" cy="967699"/>
            <a:chOff x="0" y="0"/>
            <a:chExt cx="7019481" cy="181720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19482" cy="1817206"/>
            </a:xfrm>
            <a:custGeom>
              <a:avLst/>
              <a:gdLst/>
              <a:ahLst/>
              <a:cxnLst/>
              <a:rect l="l" t="t" r="r" b="b"/>
              <a:pathLst>
                <a:path w="7019482" h="1817206">
                  <a:moveTo>
                    <a:pt x="0" y="0"/>
                  </a:moveTo>
                  <a:lnTo>
                    <a:pt x="7019482" y="0"/>
                  </a:lnTo>
                  <a:lnTo>
                    <a:pt x="7019482" y="1817206"/>
                  </a:lnTo>
                  <a:lnTo>
                    <a:pt x="0" y="18172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05" r="11755" b="-637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7019481" cy="1845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4"/>
                </a:lnSpc>
              </a:pPr>
              <a:r>
                <a:rPr lang="en-US" sz="189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$2.4B — Goldman Sachs, Citi, Apollo.</a:t>
              </a:r>
            </a:p>
            <a:p>
              <a:pPr algn="ctr">
                <a:lnSpc>
                  <a:spcPts val="2184"/>
                </a:lnSpc>
              </a:pPr>
              <a:r>
                <a:rPr lang="en-US" sz="189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Largest MENA facility of its kind.</a:t>
              </a:r>
            </a:p>
            <a:p>
              <a:pPr algn="ctr">
                <a:lnSpc>
                  <a:spcPts val="2184"/>
                </a:lnSpc>
              </a:pPr>
              <a:r>
                <a:rPr lang="en-US" sz="189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Announced at Money 20/20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8" name="Freeform 38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9" name="Freeform 39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0" name="Freeform 40"/>
          <p:cNvSpPr/>
          <p:nvPr/>
        </p:nvSpPr>
        <p:spPr>
          <a:xfrm>
            <a:off x="2808892" y="3574690"/>
            <a:ext cx="506938" cy="593778"/>
          </a:xfrm>
          <a:custGeom>
            <a:avLst/>
            <a:gdLst/>
            <a:ahLst/>
            <a:cxnLst/>
            <a:rect l="l" t="t" r="r" b="b"/>
            <a:pathLst>
              <a:path w="506938" h="593778">
                <a:moveTo>
                  <a:pt x="0" y="0"/>
                </a:moveTo>
                <a:lnTo>
                  <a:pt x="506937" y="0"/>
                </a:lnTo>
                <a:lnTo>
                  <a:pt x="506937" y="593778"/>
                </a:lnTo>
                <a:lnTo>
                  <a:pt x="0" y="593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1" name="Freeform 41"/>
          <p:cNvSpPr/>
          <p:nvPr/>
        </p:nvSpPr>
        <p:spPr>
          <a:xfrm>
            <a:off x="6745606" y="3614937"/>
            <a:ext cx="508897" cy="475183"/>
          </a:xfrm>
          <a:custGeom>
            <a:avLst/>
            <a:gdLst/>
            <a:ahLst/>
            <a:cxnLst/>
            <a:rect l="l" t="t" r="r" b="b"/>
            <a:pathLst>
              <a:path w="508897" h="475183">
                <a:moveTo>
                  <a:pt x="0" y="0"/>
                </a:moveTo>
                <a:lnTo>
                  <a:pt x="508897" y="0"/>
                </a:lnTo>
                <a:lnTo>
                  <a:pt x="508897" y="475183"/>
                </a:lnTo>
                <a:lnTo>
                  <a:pt x="0" y="475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2" name="Freeform 42"/>
          <p:cNvSpPr/>
          <p:nvPr/>
        </p:nvSpPr>
        <p:spPr>
          <a:xfrm>
            <a:off x="10732536" y="3562353"/>
            <a:ext cx="410427" cy="618451"/>
          </a:xfrm>
          <a:custGeom>
            <a:avLst/>
            <a:gdLst/>
            <a:ahLst/>
            <a:cxnLst/>
            <a:rect l="l" t="t" r="r" b="b"/>
            <a:pathLst>
              <a:path w="410427" h="618451">
                <a:moveTo>
                  <a:pt x="0" y="0"/>
                </a:moveTo>
                <a:lnTo>
                  <a:pt x="410426" y="0"/>
                </a:lnTo>
                <a:lnTo>
                  <a:pt x="410426" y="618451"/>
                </a:lnTo>
                <a:lnTo>
                  <a:pt x="0" y="618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3" name="Freeform 43"/>
          <p:cNvSpPr/>
          <p:nvPr/>
        </p:nvSpPr>
        <p:spPr>
          <a:xfrm>
            <a:off x="14631237" y="3614937"/>
            <a:ext cx="488413" cy="508102"/>
          </a:xfrm>
          <a:custGeom>
            <a:avLst/>
            <a:gdLst/>
            <a:ahLst/>
            <a:cxnLst/>
            <a:rect l="l" t="t" r="r" b="b"/>
            <a:pathLst>
              <a:path w="488413" h="508102">
                <a:moveTo>
                  <a:pt x="0" y="0"/>
                </a:moveTo>
                <a:lnTo>
                  <a:pt x="488413" y="0"/>
                </a:lnTo>
                <a:lnTo>
                  <a:pt x="488413" y="508102"/>
                </a:lnTo>
                <a:lnTo>
                  <a:pt x="0" y="508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4" name="TextBox 44"/>
          <p:cNvSpPr txBox="1"/>
          <p:nvPr/>
        </p:nvSpPr>
        <p:spPr>
          <a:xfrm>
            <a:off x="2267135" y="1936638"/>
            <a:ext cx="1788167" cy="33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 dirty="0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Founded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60600" y="1936638"/>
            <a:ext cx="1788167" cy="33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 dirty="0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Licensed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33913" y="2326883"/>
            <a:ext cx="1241539" cy="34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 dirty="0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67918" y="5030699"/>
            <a:ext cx="1349641" cy="33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Unicorn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74205" y="5420944"/>
            <a:ext cx="937067" cy="33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 dirty="0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849023" y="5143500"/>
            <a:ext cx="2520573" cy="33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 dirty="0" err="1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SuperApp</a:t>
            </a:r>
            <a:r>
              <a:rPr lang="en-US" sz="2600" spc="-52" dirty="0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Era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40449" y="2326883"/>
            <a:ext cx="1241539" cy="33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600" spc="-52" dirty="0">
                <a:solidFill>
                  <a:srgbClr val="00C48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443" b="1" spc="-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926823" y="6732525"/>
            <a:ext cx="10434354" cy="1719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trajectory is clear...</a:t>
            </a:r>
          </a:p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 just needs a </a:t>
            </a:r>
            <a:r>
              <a:rPr lang="en-US" sz="5600" dirty="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platform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50" grpId="0"/>
      <p:bldP spid="51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Freeform 4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Freeform 5"/>
          <p:cNvSpPr/>
          <p:nvPr/>
        </p:nvSpPr>
        <p:spPr>
          <a:xfrm>
            <a:off x="7080720" y="1028700"/>
            <a:ext cx="4126560" cy="1738313"/>
          </a:xfrm>
          <a:custGeom>
            <a:avLst/>
            <a:gdLst/>
            <a:ahLst/>
            <a:cxnLst/>
            <a:rect l="l" t="t" r="r" b="b"/>
            <a:pathLst>
              <a:path w="4126560" h="1738313">
                <a:moveTo>
                  <a:pt x="0" y="0"/>
                </a:moveTo>
                <a:lnTo>
                  <a:pt x="4126560" y="0"/>
                </a:lnTo>
                <a:lnTo>
                  <a:pt x="4126560" y="1738313"/>
                </a:lnTo>
                <a:lnTo>
                  <a:pt x="0" y="1738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AutoShape 6"/>
          <p:cNvSpPr/>
          <p:nvPr/>
        </p:nvSpPr>
        <p:spPr>
          <a:xfrm>
            <a:off x="4144390" y="3138706"/>
            <a:ext cx="9999220" cy="0"/>
          </a:xfrm>
          <a:prstGeom prst="line">
            <a:avLst/>
          </a:prstGeom>
          <a:ln w="9525" cap="rnd">
            <a:gradFill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Box 8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443" b="1" spc="-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95763" y="3321533"/>
            <a:ext cx="6696475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Every audience Tamara needs</a:t>
            </a:r>
          </a:p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29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under one roof...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44015" y="5535027"/>
            <a:ext cx="3621836" cy="977832"/>
            <a:chOff x="0" y="0"/>
            <a:chExt cx="4829115" cy="130377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288788"/>
              <a:ext cx="1121652" cy="1014988"/>
              <a:chOff x="0" y="0"/>
              <a:chExt cx="754502" cy="682752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450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754502" h="682752">
                    <a:moveTo>
                      <a:pt x="0" y="0"/>
                    </a:moveTo>
                    <a:lnTo>
                      <a:pt x="754502" y="0"/>
                    </a:lnTo>
                    <a:lnTo>
                      <a:pt x="754502" y="682752"/>
                    </a:lnTo>
                    <a:lnTo>
                      <a:pt x="0" y="6827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5254" b="-5254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332177" y="0"/>
              <a:ext cx="3193719" cy="1241281"/>
              <a:chOff x="0" y="0"/>
              <a:chExt cx="2258572" cy="87782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58572" cy="877824"/>
              </a:xfrm>
              <a:custGeom>
                <a:avLst/>
                <a:gdLst/>
                <a:ahLst/>
                <a:cxnLst/>
                <a:rect l="l" t="t" r="r" b="b"/>
                <a:pathLst>
                  <a:path w="2258572" h="877824">
                    <a:moveTo>
                      <a:pt x="0" y="0"/>
                    </a:moveTo>
                    <a:lnTo>
                      <a:pt x="2258572" y="0"/>
                    </a:lnTo>
                    <a:lnTo>
                      <a:pt x="2258572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t="-69075" r="-137516" b="-6907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0"/>
                <a:ext cx="2258572" cy="87782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Media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32177" y="864207"/>
              <a:ext cx="3496938" cy="32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1"/>
                </a:lnSpc>
              </a:pPr>
              <a:r>
                <a:rPr lang="en-US" sz="1900" spc="-38" dirty="0">
                  <a:solidFill>
                    <a:srgbClr val="00C4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Visibility &amp; Global Exposure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4015" y="7203507"/>
            <a:ext cx="5476700" cy="761241"/>
            <a:chOff x="0" y="0"/>
            <a:chExt cx="7302267" cy="1014988"/>
          </a:xfrm>
        </p:grpSpPr>
        <p:grpSp>
          <p:nvGrpSpPr>
            <p:cNvPr id="18" name="Group 18"/>
            <p:cNvGrpSpPr/>
            <p:nvPr/>
          </p:nvGrpSpPr>
          <p:grpSpPr>
            <a:xfrm>
              <a:off x="1220905" y="46547"/>
              <a:ext cx="6081362" cy="674848"/>
              <a:chOff x="0" y="0"/>
              <a:chExt cx="4300689" cy="47724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300689" cy="477247"/>
              </a:xfrm>
              <a:custGeom>
                <a:avLst/>
                <a:gdLst/>
                <a:ahLst/>
                <a:cxnLst/>
                <a:rect l="l" t="t" r="r" b="b"/>
                <a:pathLst>
                  <a:path w="4300689" h="477247">
                    <a:moveTo>
                      <a:pt x="0" y="0"/>
                    </a:moveTo>
                    <a:lnTo>
                      <a:pt x="4300689" y="0"/>
                    </a:lnTo>
                    <a:lnTo>
                      <a:pt x="4300689" y="477247"/>
                    </a:lnTo>
                    <a:lnTo>
                      <a:pt x="0" y="477247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t="-127053" r="-24735" b="-210988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4300689" cy="4772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Competitors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121652" cy="1014988"/>
              <a:chOff x="0" y="0"/>
              <a:chExt cx="754502" cy="682752"/>
            </a:xfrm>
          </p:grpSpPr>
          <p:sp>
            <p:nvSpPr>
              <p:cNvPr id="22" name="Freeform 22" descr="preencoded.png"/>
              <p:cNvSpPr/>
              <p:nvPr/>
            </p:nvSpPr>
            <p:spPr>
              <a:xfrm>
                <a:off x="0" y="0"/>
                <a:ext cx="75450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754502" h="682752">
                    <a:moveTo>
                      <a:pt x="0" y="0"/>
                    </a:moveTo>
                    <a:lnTo>
                      <a:pt x="754502" y="0"/>
                    </a:lnTo>
                    <a:lnTo>
                      <a:pt x="754502" y="682752"/>
                    </a:lnTo>
                    <a:lnTo>
                      <a:pt x="0" y="6827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5254" b="-5254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259005" y="617223"/>
              <a:ext cx="2861210" cy="385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1"/>
                </a:lnSpc>
              </a:pPr>
              <a:r>
                <a:rPr lang="en-US" sz="1900" spc="-38">
                  <a:solidFill>
                    <a:srgbClr val="00C4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BNPL Players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252578" y="5707987"/>
            <a:ext cx="889455" cy="804871"/>
            <a:chOff x="0" y="0"/>
            <a:chExt cx="754502" cy="682752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754502" cy="682752"/>
            </a:xfrm>
            <a:custGeom>
              <a:avLst/>
              <a:gdLst/>
              <a:ahLst/>
              <a:cxnLst/>
              <a:rect l="l" t="t" r="r" b="b"/>
              <a:pathLst>
                <a:path w="754502" h="682752">
                  <a:moveTo>
                    <a:pt x="0" y="0"/>
                  </a:moveTo>
                  <a:lnTo>
                    <a:pt x="754502" y="0"/>
                  </a:lnTo>
                  <a:lnTo>
                    <a:pt x="75450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254" b="-5254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301561" y="5558462"/>
            <a:ext cx="3986439" cy="930961"/>
            <a:chOff x="0" y="0"/>
            <a:chExt cx="3758903" cy="8778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758903" cy="877824"/>
            </a:xfrm>
            <a:custGeom>
              <a:avLst/>
              <a:gdLst/>
              <a:ahLst/>
              <a:cxnLst/>
              <a:rect l="l" t="t" r="r" b="b"/>
              <a:pathLst>
                <a:path w="3758903" h="877824">
                  <a:moveTo>
                    <a:pt x="0" y="0"/>
                  </a:moveTo>
                  <a:lnTo>
                    <a:pt x="3758903" y="0"/>
                  </a:lnTo>
                  <a:lnTo>
                    <a:pt x="3758903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9075" r="-42713" b="-6907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3758903" cy="877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Merchants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263701" y="6201199"/>
            <a:ext cx="3613459" cy="28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900" spc="-38">
                <a:solidFill>
                  <a:srgbClr val="00C48C"/>
                </a:solidFill>
                <a:latin typeface="Calibri (MS)"/>
                <a:ea typeface="Calibri (MS)"/>
                <a:cs typeface="Calibri (MS)"/>
                <a:sym typeface="Calibri (MS)"/>
              </a:rPr>
              <a:t> Global Brands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332606" y="7156636"/>
            <a:ext cx="841239" cy="761241"/>
            <a:chOff x="0" y="0"/>
            <a:chExt cx="754502" cy="682752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754502" cy="682752"/>
            </a:xfrm>
            <a:custGeom>
              <a:avLst/>
              <a:gdLst/>
              <a:ahLst/>
              <a:cxnLst/>
              <a:rect l="l" t="t" r="r" b="b"/>
              <a:pathLst>
                <a:path w="754502" h="682752">
                  <a:moveTo>
                    <a:pt x="0" y="0"/>
                  </a:moveTo>
                  <a:lnTo>
                    <a:pt x="754502" y="0"/>
                  </a:lnTo>
                  <a:lnTo>
                    <a:pt x="75450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5254" b="-5254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298204" y="6986916"/>
            <a:ext cx="1772227" cy="930961"/>
            <a:chOff x="0" y="0"/>
            <a:chExt cx="1671072" cy="8778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71072" cy="877824"/>
            </a:xfrm>
            <a:custGeom>
              <a:avLst/>
              <a:gdLst/>
              <a:ahLst/>
              <a:cxnLst/>
              <a:rect l="l" t="t" r="r" b="b"/>
              <a:pathLst>
                <a:path w="1671072" h="877824">
                  <a:moveTo>
                    <a:pt x="0" y="0"/>
                  </a:moveTo>
                  <a:lnTo>
                    <a:pt x="1671072" y="0"/>
                  </a:lnTo>
                  <a:lnTo>
                    <a:pt x="167107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9075" r="-221020" b="-6907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671072" cy="877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Regulators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895783" y="7635365"/>
            <a:ext cx="2515283" cy="52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900" spc="-38">
                <a:solidFill>
                  <a:srgbClr val="00C48C"/>
                </a:solidFill>
                <a:latin typeface="Calibri (MS)"/>
                <a:ea typeface="Calibri (MS)"/>
                <a:cs typeface="Calibri (MS)"/>
                <a:sym typeface="Calibri (MS)"/>
              </a:rPr>
              <a:t>Licensing Partners</a:t>
            </a:r>
          </a:p>
          <a:p>
            <a:pPr algn="ctr">
              <a:lnSpc>
                <a:spcPts val="1881"/>
              </a:lnSpc>
            </a:pPr>
            <a:endParaRPr lang="en-US" sz="1900" spc="-38">
              <a:solidFill>
                <a:srgbClr val="00C48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7681392" y="5666504"/>
            <a:ext cx="841239" cy="761241"/>
            <a:chOff x="0" y="0"/>
            <a:chExt cx="754502" cy="682752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754502" cy="682752"/>
            </a:xfrm>
            <a:custGeom>
              <a:avLst/>
              <a:gdLst/>
              <a:ahLst/>
              <a:cxnLst/>
              <a:rect l="l" t="t" r="r" b="b"/>
              <a:pathLst>
                <a:path w="754502" h="682752">
                  <a:moveTo>
                    <a:pt x="0" y="0"/>
                  </a:moveTo>
                  <a:lnTo>
                    <a:pt x="754502" y="0"/>
                  </a:lnTo>
                  <a:lnTo>
                    <a:pt x="75450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5254" b="-5254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46456" y="5658240"/>
            <a:ext cx="3544453" cy="499995"/>
            <a:chOff x="0" y="0"/>
            <a:chExt cx="3342144" cy="47145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342144" cy="471457"/>
            </a:xfrm>
            <a:custGeom>
              <a:avLst/>
              <a:gdLst/>
              <a:ahLst/>
              <a:cxnLst/>
              <a:rect l="l" t="t" r="r" b="b"/>
              <a:pathLst>
                <a:path w="3342144" h="471457">
                  <a:moveTo>
                    <a:pt x="0" y="0"/>
                  </a:moveTo>
                  <a:lnTo>
                    <a:pt x="3342144" y="0"/>
                  </a:lnTo>
                  <a:lnTo>
                    <a:pt x="3342144" y="471457"/>
                  </a:lnTo>
                  <a:lnTo>
                    <a:pt x="0" y="47145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8613" r="-60510" b="-21480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3342144" cy="4714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Investors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8411348" y="6088254"/>
            <a:ext cx="2515283" cy="28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900" spc="-38">
                <a:solidFill>
                  <a:srgbClr val="00C48C"/>
                </a:solidFill>
                <a:latin typeface="Calibri (MS)"/>
                <a:ea typeface="Calibri (MS)"/>
                <a:cs typeface="Calibri (MS)"/>
                <a:sym typeface="Calibri (MS)"/>
              </a:rPr>
              <a:t>Strategic Partnerships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745983" y="7203507"/>
            <a:ext cx="3461297" cy="761241"/>
            <a:chOff x="0" y="0"/>
            <a:chExt cx="4615063" cy="1014988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1121652" cy="1014988"/>
              <a:chOff x="0" y="0"/>
              <a:chExt cx="754502" cy="682752"/>
            </a:xfrm>
          </p:grpSpPr>
          <p:sp>
            <p:nvSpPr>
              <p:cNvPr id="44" name="Freeform 44" descr="preencoded.png"/>
              <p:cNvSpPr/>
              <p:nvPr/>
            </p:nvSpPr>
            <p:spPr>
              <a:xfrm>
                <a:off x="0" y="0"/>
                <a:ext cx="75450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754502" h="682752">
                    <a:moveTo>
                      <a:pt x="0" y="0"/>
                    </a:moveTo>
                    <a:lnTo>
                      <a:pt x="754502" y="0"/>
                    </a:lnTo>
                    <a:lnTo>
                      <a:pt x="754502" y="682752"/>
                    </a:lnTo>
                    <a:lnTo>
                      <a:pt x="0" y="6827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5254" b="-5254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261352" y="71307"/>
              <a:ext cx="3311582" cy="666660"/>
              <a:chOff x="0" y="0"/>
              <a:chExt cx="2341923" cy="47145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341923" cy="471457"/>
              </a:xfrm>
              <a:custGeom>
                <a:avLst/>
                <a:gdLst/>
                <a:ahLst/>
                <a:cxnLst/>
                <a:rect l="l" t="t" r="r" b="b"/>
                <a:pathLst>
                  <a:path w="2341923" h="471457">
                    <a:moveTo>
                      <a:pt x="0" y="0"/>
                    </a:moveTo>
                    <a:lnTo>
                      <a:pt x="2341923" y="0"/>
                    </a:lnTo>
                    <a:lnTo>
                      <a:pt x="2341923" y="471457"/>
                    </a:lnTo>
                    <a:lnTo>
                      <a:pt x="0" y="471457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t="-128613" r="-129063" b="-214807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0"/>
                <a:ext cx="2341923" cy="4714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FFFFFF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Talent</a:t>
                </a:r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261352" y="604523"/>
              <a:ext cx="3353710" cy="385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1"/>
                </a:lnSpc>
              </a:pPr>
              <a:r>
                <a:rPr lang="en-US" sz="1900" spc="-38">
                  <a:solidFill>
                    <a:srgbClr val="00C4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Employer Branding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5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05441" y="1115338"/>
            <a:ext cx="10158407" cy="71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99" b="0" i="0" u="none" strike="noStrike" kern="1200" cap="none" spc="-83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STAKEHOLDER STRATEGY - In Tiers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14835" y="2959038"/>
            <a:ext cx="4124649" cy="6299262"/>
            <a:chOff x="0" y="0"/>
            <a:chExt cx="1263245" cy="19292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3245" cy="1929257"/>
            </a:xfrm>
            <a:custGeom>
              <a:avLst/>
              <a:gdLst/>
              <a:ahLst/>
              <a:cxnLst/>
              <a:rect l="l" t="t" r="r" b="b"/>
              <a:pathLst>
                <a:path w="1263245" h="1929257">
                  <a:moveTo>
                    <a:pt x="45048" y="0"/>
                  </a:moveTo>
                  <a:lnTo>
                    <a:pt x="1218197" y="0"/>
                  </a:lnTo>
                  <a:cubicBezTo>
                    <a:pt x="1230144" y="0"/>
                    <a:pt x="1241602" y="4746"/>
                    <a:pt x="1250051" y="13194"/>
                  </a:cubicBezTo>
                  <a:cubicBezTo>
                    <a:pt x="1258499" y="21642"/>
                    <a:pt x="1263245" y="33100"/>
                    <a:pt x="1263245" y="45048"/>
                  </a:cubicBezTo>
                  <a:lnTo>
                    <a:pt x="1263245" y="1884210"/>
                  </a:lnTo>
                  <a:cubicBezTo>
                    <a:pt x="1263245" y="1896157"/>
                    <a:pt x="1258499" y="1907615"/>
                    <a:pt x="1250051" y="1916063"/>
                  </a:cubicBezTo>
                  <a:cubicBezTo>
                    <a:pt x="1241602" y="1924511"/>
                    <a:pt x="1230144" y="1929257"/>
                    <a:pt x="1218197" y="1929257"/>
                  </a:cubicBezTo>
                  <a:lnTo>
                    <a:pt x="45048" y="1929257"/>
                  </a:lnTo>
                  <a:cubicBezTo>
                    <a:pt x="33100" y="1929257"/>
                    <a:pt x="21642" y="1924511"/>
                    <a:pt x="13194" y="1916063"/>
                  </a:cubicBezTo>
                  <a:cubicBezTo>
                    <a:pt x="4746" y="1907615"/>
                    <a:pt x="0" y="1896157"/>
                    <a:pt x="0" y="1884210"/>
                  </a:cubicBezTo>
                  <a:lnTo>
                    <a:pt x="0" y="45048"/>
                  </a:lnTo>
                  <a:cubicBezTo>
                    <a:pt x="0" y="33100"/>
                    <a:pt x="4746" y="21642"/>
                    <a:pt x="13194" y="13194"/>
                  </a:cubicBezTo>
                  <a:cubicBezTo>
                    <a:pt x="21642" y="4746"/>
                    <a:pt x="33100" y="0"/>
                    <a:pt x="45048" y="0"/>
                  </a:cubicBezTo>
                  <a:close/>
                </a:path>
              </a:pathLst>
            </a:custGeom>
            <a:solidFill>
              <a:srgbClr val="0A0E1A"/>
            </a:solidFill>
            <a:ln w="57150" cap="rnd">
              <a:solidFill>
                <a:srgbClr val="F5A62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63245" cy="1967357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24462" y="2959038"/>
            <a:ext cx="4124649" cy="6299262"/>
            <a:chOff x="0" y="0"/>
            <a:chExt cx="1263245" cy="19292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3245" cy="1929257"/>
            </a:xfrm>
            <a:custGeom>
              <a:avLst/>
              <a:gdLst/>
              <a:ahLst/>
              <a:cxnLst/>
              <a:rect l="l" t="t" r="r" b="b"/>
              <a:pathLst>
                <a:path w="1263245" h="1929257">
                  <a:moveTo>
                    <a:pt x="45048" y="0"/>
                  </a:moveTo>
                  <a:lnTo>
                    <a:pt x="1218197" y="0"/>
                  </a:lnTo>
                  <a:cubicBezTo>
                    <a:pt x="1230144" y="0"/>
                    <a:pt x="1241602" y="4746"/>
                    <a:pt x="1250051" y="13194"/>
                  </a:cubicBezTo>
                  <a:cubicBezTo>
                    <a:pt x="1258499" y="21642"/>
                    <a:pt x="1263245" y="33100"/>
                    <a:pt x="1263245" y="45048"/>
                  </a:cubicBezTo>
                  <a:lnTo>
                    <a:pt x="1263245" y="1884210"/>
                  </a:lnTo>
                  <a:cubicBezTo>
                    <a:pt x="1263245" y="1896157"/>
                    <a:pt x="1258499" y="1907615"/>
                    <a:pt x="1250051" y="1916063"/>
                  </a:cubicBezTo>
                  <a:cubicBezTo>
                    <a:pt x="1241602" y="1924511"/>
                    <a:pt x="1230144" y="1929257"/>
                    <a:pt x="1218197" y="1929257"/>
                  </a:cubicBezTo>
                  <a:lnTo>
                    <a:pt x="45048" y="1929257"/>
                  </a:lnTo>
                  <a:cubicBezTo>
                    <a:pt x="33100" y="1929257"/>
                    <a:pt x="21642" y="1924511"/>
                    <a:pt x="13194" y="1916063"/>
                  </a:cubicBezTo>
                  <a:cubicBezTo>
                    <a:pt x="4746" y="1907615"/>
                    <a:pt x="0" y="1896157"/>
                    <a:pt x="0" y="1884210"/>
                  </a:cubicBezTo>
                  <a:lnTo>
                    <a:pt x="0" y="45048"/>
                  </a:lnTo>
                  <a:cubicBezTo>
                    <a:pt x="0" y="33100"/>
                    <a:pt x="4746" y="21642"/>
                    <a:pt x="13194" y="13194"/>
                  </a:cubicBezTo>
                  <a:cubicBezTo>
                    <a:pt x="21642" y="4746"/>
                    <a:pt x="33100" y="0"/>
                    <a:pt x="45048" y="0"/>
                  </a:cubicBezTo>
                  <a:close/>
                </a:path>
              </a:pathLst>
            </a:custGeom>
            <a:solidFill>
              <a:srgbClr val="0A0E1A"/>
            </a:solidFill>
            <a:ln w="57150" cap="rnd">
              <a:solidFill>
                <a:srgbClr val="00C48C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63245" cy="1967357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9525" y="2551903"/>
            <a:ext cx="3255270" cy="884386"/>
            <a:chOff x="0" y="0"/>
            <a:chExt cx="2571057" cy="698500"/>
          </a:xfrm>
        </p:grpSpPr>
        <p:sp>
          <p:nvSpPr>
            <p:cNvPr id="11" name="Freeform 11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49592" y="2551903"/>
            <a:ext cx="3255270" cy="884386"/>
            <a:chOff x="0" y="0"/>
            <a:chExt cx="2571057" cy="698500"/>
          </a:xfrm>
        </p:grpSpPr>
        <p:sp>
          <p:nvSpPr>
            <p:cNvPr id="14" name="Freeform 14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solidFill>
              <a:srgbClr val="00C48C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31122" y="4728789"/>
            <a:ext cx="3252113" cy="0"/>
          </a:xfrm>
          <a:prstGeom prst="line">
            <a:avLst/>
          </a:prstGeom>
          <a:ln w="19050" cap="flat">
            <a:solidFill>
              <a:srgbClr val="F5A6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31122" y="6431910"/>
            <a:ext cx="3252113" cy="0"/>
          </a:xfrm>
          <a:prstGeom prst="line">
            <a:avLst/>
          </a:prstGeom>
          <a:ln w="19050" cap="flat">
            <a:solidFill>
              <a:srgbClr val="F5A6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9334098" y="2902036"/>
            <a:ext cx="4124649" cy="6356264"/>
            <a:chOff x="0" y="0"/>
            <a:chExt cx="1263245" cy="19467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63245" cy="1946715"/>
            </a:xfrm>
            <a:custGeom>
              <a:avLst/>
              <a:gdLst/>
              <a:ahLst/>
              <a:cxnLst/>
              <a:rect l="l" t="t" r="r" b="b"/>
              <a:pathLst>
                <a:path w="1263245" h="1946715">
                  <a:moveTo>
                    <a:pt x="45048" y="0"/>
                  </a:moveTo>
                  <a:lnTo>
                    <a:pt x="1218197" y="0"/>
                  </a:lnTo>
                  <a:cubicBezTo>
                    <a:pt x="1230144" y="0"/>
                    <a:pt x="1241602" y="4746"/>
                    <a:pt x="1250051" y="13194"/>
                  </a:cubicBezTo>
                  <a:cubicBezTo>
                    <a:pt x="1258499" y="21642"/>
                    <a:pt x="1263245" y="33100"/>
                    <a:pt x="1263245" y="45048"/>
                  </a:cubicBezTo>
                  <a:lnTo>
                    <a:pt x="1263245" y="1901668"/>
                  </a:lnTo>
                  <a:cubicBezTo>
                    <a:pt x="1263245" y="1913615"/>
                    <a:pt x="1258499" y="1925073"/>
                    <a:pt x="1250051" y="1933521"/>
                  </a:cubicBezTo>
                  <a:cubicBezTo>
                    <a:pt x="1241602" y="1941969"/>
                    <a:pt x="1230144" y="1946715"/>
                    <a:pt x="1218197" y="1946715"/>
                  </a:cubicBezTo>
                  <a:lnTo>
                    <a:pt x="45048" y="1946715"/>
                  </a:lnTo>
                  <a:cubicBezTo>
                    <a:pt x="33100" y="1946715"/>
                    <a:pt x="21642" y="1941969"/>
                    <a:pt x="13194" y="1933521"/>
                  </a:cubicBezTo>
                  <a:cubicBezTo>
                    <a:pt x="4746" y="1925073"/>
                    <a:pt x="0" y="1913615"/>
                    <a:pt x="0" y="1901668"/>
                  </a:cubicBezTo>
                  <a:lnTo>
                    <a:pt x="0" y="45048"/>
                  </a:lnTo>
                  <a:cubicBezTo>
                    <a:pt x="0" y="33100"/>
                    <a:pt x="4746" y="21642"/>
                    <a:pt x="13194" y="13194"/>
                  </a:cubicBezTo>
                  <a:cubicBezTo>
                    <a:pt x="21642" y="4746"/>
                    <a:pt x="33100" y="0"/>
                    <a:pt x="45048" y="0"/>
                  </a:cubicBezTo>
                  <a:close/>
                </a:path>
              </a:pathLst>
            </a:custGeom>
            <a:solidFill>
              <a:srgbClr val="0A0E1A"/>
            </a:solidFill>
            <a:ln w="57150" cap="rnd">
              <a:solidFill>
                <a:srgbClr val="F5A62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63245" cy="1984815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43725" y="2902036"/>
            <a:ext cx="4124649" cy="6356264"/>
            <a:chOff x="0" y="0"/>
            <a:chExt cx="1263245" cy="19467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63245" cy="1946715"/>
            </a:xfrm>
            <a:custGeom>
              <a:avLst/>
              <a:gdLst/>
              <a:ahLst/>
              <a:cxnLst/>
              <a:rect l="l" t="t" r="r" b="b"/>
              <a:pathLst>
                <a:path w="1263245" h="1946715">
                  <a:moveTo>
                    <a:pt x="45048" y="0"/>
                  </a:moveTo>
                  <a:lnTo>
                    <a:pt x="1218197" y="0"/>
                  </a:lnTo>
                  <a:cubicBezTo>
                    <a:pt x="1230144" y="0"/>
                    <a:pt x="1241602" y="4746"/>
                    <a:pt x="1250051" y="13194"/>
                  </a:cubicBezTo>
                  <a:cubicBezTo>
                    <a:pt x="1258499" y="21642"/>
                    <a:pt x="1263245" y="33100"/>
                    <a:pt x="1263245" y="45048"/>
                  </a:cubicBezTo>
                  <a:lnTo>
                    <a:pt x="1263245" y="1901668"/>
                  </a:lnTo>
                  <a:cubicBezTo>
                    <a:pt x="1263245" y="1913615"/>
                    <a:pt x="1258499" y="1925073"/>
                    <a:pt x="1250051" y="1933521"/>
                  </a:cubicBezTo>
                  <a:cubicBezTo>
                    <a:pt x="1241602" y="1941969"/>
                    <a:pt x="1230144" y="1946715"/>
                    <a:pt x="1218197" y="1946715"/>
                  </a:cubicBezTo>
                  <a:lnTo>
                    <a:pt x="45048" y="1946715"/>
                  </a:lnTo>
                  <a:cubicBezTo>
                    <a:pt x="33100" y="1946715"/>
                    <a:pt x="21642" y="1941969"/>
                    <a:pt x="13194" y="1933521"/>
                  </a:cubicBezTo>
                  <a:cubicBezTo>
                    <a:pt x="4746" y="1925073"/>
                    <a:pt x="0" y="1913615"/>
                    <a:pt x="0" y="1901668"/>
                  </a:cubicBezTo>
                  <a:lnTo>
                    <a:pt x="0" y="45048"/>
                  </a:lnTo>
                  <a:cubicBezTo>
                    <a:pt x="0" y="33100"/>
                    <a:pt x="4746" y="21642"/>
                    <a:pt x="13194" y="13194"/>
                  </a:cubicBezTo>
                  <a:cubicBezTo>
                    <a:pt x="21642" y="4746"/>
                    <a:pt x="33100" y="0"/>
                    <a:pt x="45048" y="0"/>
                  </a:cubicBezTo>
                  <a:close/>
                </a:path>
              </a:pathLst>
            </a:custGeom>
            <a:solidFill>
              <a:srgbClr val="0A0E1A"/>
            </a:solidFill>
            <a:ln w="57150" cap="rnd">
              <a:solidFill>
                <a:srgbClr val="00C48C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263245" cy="1984815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68788" y="2494900"/>
            <a:ext cx="3255270" cy="884386"/>
            <a:chOff x="0" y="0"/>
            <a:chExt cx="2571057" cy="698500"/>
          </a:xfrm>
        </p:grpSpPr>
        <p:sp>
          <p:nvSpPr>
            <p:cNvPr id="25" name="Freeform 25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268855" y="2494900"/>
            <a:ext cx="3255270" cy="884386"/>
            <a:chOff x="0" y="0"/>
            <a:chExt cx="2571057" cy="698500"/>
          </a:xfrm>
        </p:grpSpPr>
        <p:sp>
          <p:nvSpPr>
            <p:cNvPr id="28" name="Freeform 28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solidFill>
              <a:srgbClr val="00C48C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AutoShape 30"/>
          <p:cNvSpPr/>
          <p:nvPr/>
        </p:nvSpPr>
        <p:spPr>
          <a:xfrm>
            <a:off x="5243149" y="4728789"/>
            <a:ext cx="3252113" cy="0"/>
          </a:xfrm>
          <a:prstGeom prst="line">
            <a:avLst/>
          </a:prstGeom>
          <a:ln w="19050" cap="flat">
            <a:solidFill>
              <a:srgbClr val="00C4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243149" y="6431910"/>
            <a:ext cx="3252113" cy="0"/>
          </a:xfrm>
          <a:prstGeom prst="line">
            <a:avLst/>
          </a:prstGeom>
          <a:ln w="19050" cap="flat">
            <a:solidFill>
              <a:srgbClr val="00C4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9744952" y="4728789"/>
            <a:ext cx="3252113" cy="0"/>
          </a:xfrm>
          <a:prstGeom prst="line">
            <a:avLst/>
          </a:prstGeom>
          <a:ln w="19050" cap="flat">
            <a:solidFill>
              <a:srgbClr val="F5A6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744952" y="6431910"/>
            <a:ext cx="3252113" cy="0"/>
          </a:xfrm>
          <a:prstGeom prst="line">
            <a:avLst/>
          </a:prstGeom>
          <a:ln w="19050" cap="flat">
            <a:solidFill>
              <a:srgbClr val="F5A6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4269593" y="4728789"/>
            <a:ext cx="3252113" cy="0"/>
          </a:xfrm>
          <a:prstGeom prst="line">
            <a:avLst/>
          </a:prstGeom>
          <a:ln w="19050" cap="flat">
            <a:solidFill>
              <a:srgbClr val="00C4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4269593" y="6431910"/>
            <a:ext cx="3252113" cy="0"/>
          </a:xfrm>
          <a:prstGeom prst="line">
            <a:avLst/>
          </a:prstGeom>
          <a:ln w="19050" cap="flat">
            <a:solidFill>
              <a:srgbClr val="00C4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629430" y="2705313"/>
            <a:ext cx="1458654" cy="51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2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Strategic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17989" y="2725056"/>
            <a:ext cx="1942394" cy="51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2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Execution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6326" y="3906831"/>
            <a:ext cx="3561668" cy="46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8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CEO, Board, Investors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91536" y="5001296"/>
            <a:ext cx="3561668" cy="1072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Engagement: Executive dashboard (weekly). Bilateral briefings. Sponsor alignment calls.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1536" y="6701558"/>
            <a:ext cx="3561668" cy="72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Motivation: Brand Optics, Right Vision and Strategy.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56871" y="2630966"/>
            <a:ext cx="1458654" cy="51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2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Support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176723" y="2670255"/>
            <a:ext cx="1458654" cy="51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2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External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108353" y="3719273"/>
            <a:ext cx="3561668" cy="90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8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Marketing, Sales, Product, PR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081429" y="4863096"/>
            <a:ext cx="3561668" cy="141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Engagement: PMO-led workstream calls. Shared project tracker. Creative approvals workflow.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03562" y="6701558"/>
            <a:ext cx="3561668" cy="72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Motivation: Brand consistency. Narrative ownership. Partnerships.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10155" y="3719273"/>
            <a:ext cx="3561668" cy="90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8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Finance, Legal, HR, Operations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90756" y="4863096"/>
            <a:ext cx="3561668" cy="141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Engagement: Milestone notifications. Budget sign-off checkpoints. Contract review gates.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05365" y="6701558"/>
            <a:ext cx="3561668" cy="1072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Motivation: Risk Clearance, Budget Integrity. Staff Management. No Surprises.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134797" y="3719273"/>
            <a:ext cx="3561668" cy="90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80" b="1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 Bold"/>
                <a:ea typeface="Calibri (MS) Bold"/>
                <a:cs typeface="Calibri (MS) Bold"/>
                <a:sym typeface="Calibri (MS) Bold"/>
              </a:rPr>
              <a:t>Money20/20 Org., Media, Regulators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130006" y="4863096"/>
            <a:ext cx="3561668" cy="141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Engagement: Relationship management via Comms lead. Press briefings. Regulatory pre-clearance.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130006" y="6701558"/>
            <a:ext cx="3561668" cy="72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4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2" b="0" i="0" u="none" strike="noStrike" kern="1200" cap="none" spc="0" normalizeH="0" baseline="0" noProof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Motivation: Brand Optics, Right Vision and Strategy.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0045" y="8219280"/>
            <a:ext cx="4124649" cy="34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6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Weekly 1-page dashboard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31122" y="7950275"/>
            <a:ext cx="3255270" cy="884386"/>
            <a:chOff x="0" y="0"/>
            <a:chExt cx="2571057" cy="698500"/>
          </a:xfrm>
        </p:grpSpPr>
        <p:sp>
          <p:nvSpPr>
            <p:cNvPr id="54" name="Freeform 54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ln w="38100" cap="sq">
              <a:solidFill>
                <a:srgbClr val="F5A623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4822072" y="8219280"/>
            <a:ext cx="4124649" cy="34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6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Bi-weekly cadences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741795" y="7950275"/>
            <a:ext cx="3255270" cy="884386"/>
            <a:chOff x="0" y="0"/>
            <a:chExt cx="2571057" cy="698500"/>
          </a:xfrm>
        </p:grpSpPr>
        <p:sp>
          <p:nvSpPr>
            <p:cNvPr id="58" name="Freeform 58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ln w="38100" cap="sq">
              <a:solidFill>
                <a:srgbClr val="F5A623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9799922" y="8048699"/>
            <a:ext cx="3193002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Cadence depending on milestones &amp; sign-offs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853306" y="8193039"/>
            <a:ext cx="4124649" cy="34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6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Relationship to be managed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4274384" y="7924034"/>
            <a:ext cx="3255270" cy="884386"/>
            <a:chOff x="0" y="0"/>
            <a:chExt cx="2571057" cy="698500"/>
          </a:xfrm>
        </p:grpSpPr>
        <p:sp>
          <p:nvSpPr>
            <p:cNvPr id="63" name="Freeform 63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ln w="38100" cap="sq">
              <a:solidFill>
                <a:srgbClr val="00C48C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43149" y="7950275"/>
            <a:ext cx="3255270" cy="884386"/>
            <a:chOff x="0" y="0"/>
            <a:chExt cx="2571057" cy="698500"/>
          </a:xfrm>
        </p:grpSpPr>
        <p:sp>
          <p:nvSpPr>
            <p:cNvPr id="66" name="Freeform 66"/>
            <p:cNvSpPr/>
            <p:nvPr/>
          </p:nvSpPr>
          <p:spPr>
            <a:xfrm>
              <a:off x="2566" y="0"/>
              <a:ext cx="2565925" cy="698500"/>
            </a:xfrm>
            <a:custGeom>
              <a:avLst/>
              <a:gdLst/>
              <a:ahLst/>
              <a:cxnLst/>
              <a:rect l="l" t="t" r="r" b="b"/>
              <a:pathLst>
                <a:path w="2565925" h="698500">
                  <a:moveTo>
                    <a:pt x="2563707" y="357473"/>
                  </a:moveTo>
                  <a:lnTo>
                    <a:pt x="2370075" y="690277"/>
                  </a:lnTo>
                  <a:cubicBezTo>
                    <a:pt x="2367113" y="695368"/>
                    <a:pt x="2361668" y="698500"/>
                    <a:pt x="2355778" y="698500"/>
                  </a:cubicBezTo>
                  <a:lnTo>
                    <a:pt x="210147" y="698500"/>
                  </a:lnTo>
                  <a:cubicBezTo>
                    <a:pt x="204257" y="698500"/>
                    <a:pt x="198812" y="695368"/>
                    <a:pt x="195850" y="690277"/>
                  </a:cubicBezTo>
                  <a:lnTo>
                    <a:pt x="2218" y="357473"/>
                  </a:lnTo>
                  <a:cubicBezTo>
                    <a:pt x="-739" y="352390"/>
                    <a:pt x="-739" y="346110"/>
                    <a:pt x="2218" y="341027"/>
                  </a:cubicBezTo>
                  <a:lnTo>
                    <a:pt x="195850" y="8223"/>
                  </a:lnTo>
                  <a:cubicBezTo>
                    <a:pt x="198812" y="3132"/>
                    <a:pt x="204257" y="0"/>
                    <a:pt x="210147" y="0"/>
                  </a:cubicBezTo>
                  <a:lnTo>
                    <a:pt x="2355778" y="0"/>
                  </a:lnTo>
                  <a:cubicBezTo>
                    <a:pt x="2361668" y="0"/>
                    <a:pt x="2367113" y="3132"/>
                    <a:pt x="2370075" y="8223"/>
                  </a:cubicBezTo>
                  <a:lnTo>
                    <a:pt x="2563707" y="341027"/>
                  </a:lnTo>
                  <a:cubicBezTo>
                    <a:pt x="2566664" y="346110"/>
                    <a:pt x="2566664" y="352390"/>
                    <a:pt x="2563707" y="357473"/>
                  </a:cubicBezTo>
                  <a:close/>
                </a:path>
              </a:pathLst>
            </a:custGeom>
            <a:ln w="38100" cap="sq">
              <a:solidFill>
                <a:srgbClr val="00C48C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300" y="-38100"/>
              <a:ext cx="2342457" cy="736600"/>
            </a:xfrm>
            <a:prstGeom prst="rect">
              <a:avLst/>
            </a:prstGeom>
          </p:spPr>
          <p:txBody>
            <a:bodyPr lIns="52648" tIns="52648" rIns="52648" bIns="5264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8" name="Freeform 68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reeform 70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3" b="1" i="0" u="none" strike="noStrike" kern="1200" cap="none" spc="-2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6" grpId="0"/>
      <p:bldP spid="60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59200" cy="925144"/>
            <a:chOff x="0" y="0"/>
            <a:chExt cx="21945600" cy="1233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233526"/>
            </a:xfrm>
            <a:custGeom>
              <a:avLst/>
              <a:gdLst/>
              <a:ahLst/>
              <a:cxnLst/>
              <a:rect l="l" t="t" r="r" b="b"/>
              <a:pathLst>
                <a:path w="21945600" h="1233526">
                  <a:moveTo>
                    <a:pt x="0" y="0"/>
                  </a:moveTo>
                  <a:lnTo>
                    <a:pt x="21945600" y="0"/>
                  </a:lnTo>
                  <a:lnTo>
                    <a:pt x="21945600" y="1233526"/>
                  </a:lnTo>
                  <a:lnTo>
                    <a:pt x="0" y="1233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9098" b="-28421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243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50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srgbClr val="F5F7FA"/>
                  </a:solidFill>
                  <a:effectLst/>
                  <a:uLnTx/>
                  <a:uFillTx/>
                  <a:latin typeface="League Spartan"/>
                  <a:ea typeface="League Spartan"/>
                  <a:cs typeface="League Spartan"/>
                  <a:sym typeface="League Spartan"/>
                </a:rPr>
                <a:t>MY OPERATING PRINCIPLES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10533" y="3964771"/>
            <a:ext cx="6500117" cy="904918"/>
            <a:chOff x="0" y="0"/>
            <a:chExt cx="1711965" cy="2383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1965" cy="238332"/>
            </a:xfrm>
            <a:custGeom>
              <a:avLst/>
              <a:gdLst/>
              <a:ahLst/>
              <a:cxnLst/>
              <a:rect l="l" t="t" r="r" b="b"/>
              <a:pathLst>
                <a:path w="1711965" h="238332">
                  <a:moveTo>
                    <a:pt x="60743" y="0"/>
                  </a:moveTo>
                  <a:lnTo>
                    <a:pt x="1651222" y="0"/>
                  </a:lnTo>
                  <a:cubicBezTo>
                    <a:pt x="1667332" y="0"/>
                    <a:pt x="1682782" y="6400"/>
                    <a:pt x="1694174" y="17791"/>
                  </a:cubicBezTo>
                  <a:cubicBezTo>
                    <a:pt x="1705565" y="29183"/>
                    <a:pt x="1711965" y="44633"/>
                    <a:pt x="1711965" y="60743"/>
                  </a:cubicBezTo>
                  <a:lnTo>
                    <a:pt x="1711965" y="177589"/>
                  </a:lnTo>
                  <a:cubicBezTo>
                    <a:pt x="1711965" y="193699"/>
                    <a:pt x="1705565" y="209149"/>
                    <a:pt x="1694174" y="220541"/>
                  </a:cubicBezTo>
                  <a:cubicBezTo>
                    <a:pt x="1682782" y="231933"/>
                    <a:pt x="1667332" y="238332"/>
                    <a:pt x="1651222" y="238332"/>
                  </a:cubicBezTo>
                  <a:lnTo>
                    <a:pt x="60743" y="238332"/>
                  </a:lnTo>
                  <a:cubicBezTo>
                    <a:pt x="44633" y="238332"/>
                    <a:pt x="29183" y="231933"/>
                    <a:pt x="17791" y="220541"/>
                  </a:cubicBezTo>
                  <a:cubicBezTo>
                    <a:pt x="6400" y="209149"/>
                    <a:pt x="0" y="193699"/>
                    <a:pt x="0" y="177589"/>
                  </a:cubicBezTo>
                  <a:lnTo>
                    <a:pt x="0" y="60743"/>
                  </a:lnTo>
                  <a:cubicBezTo>
                    <a:pt x="0" y="44633"/>
                    <a:pt x="6400" y="29183"/>
                    <a:pt x="17791" y="17791"/>
                  </a:cubicBezTo>
                  <a:cubicBezTo>
                    <a:pt x="29183" y="6400"/>
                    <a:pt x="44633" y="0"/>
                    <a:pt x="607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11965" cy="276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295482"/>
            <a:ext cx="2708034" cy="2708034"/>
            <a:chOff x="0" y="0"/>
            <a:chExt cx="3610712" cy="36107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10712" cy="3610712"/>
            </a:xfrm>
            <a:custGeom>
              <a:avLst/>
              <a:gdLst/>
              <a:ahLst/>
              <a:cxnLst/>
              <a:rect l="l" t="t" r="r" b="b"/>
              <a:pathLst>
                <a:path w="3610712" h="3610712">
                  <a:moveTo>
                    <a:pt x="0" y="0"/>
                  </a:moveTo>
                  <a:lnTo>
                    <a:pt x="3610712" y="0"/>
                  </a:lnTo>
                  <a:lnTo>
                    <a:pt x="3610712" y="3610712"/>
                  </a:lnTo>
                  <a:lnTo>
                    <a:pt x="0" y="3610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2984557" cy="298455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4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843832" y="639488"/>
              <a:ext cx="1491981" cy="1732344"/>
            </a:xfrm>
            <a:custGeom>
              <a:avLst/>
              <a:gdLst/>
              <a:ahLst/>
              <a:cxnLst/>
              <a:rect l="l" t="t" r="r" b="b"/>
              <a:pathLst>
                <a:path w="1491981" h="1732344">
                  <a:moveTo>
                    <a:pt x="0" y="0"/>
                  </a:moveTo>
                  <a:lnTo>
                    <a:pt x="1491981" y="0"/>
                  </a:lnTo>
                  <a:lnTo>
                    <a:pt x="1491981" y="1732344"/>
                  </a:lnTo>
                  <a:lnTo>
                    <a:pt x="0" y="1732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39346" y="3946786"/>
            <a:ext cx="6395643" cy="904918"/>
            <a:chOff x="0" y="0"/>
            <a:chExt cx="1684449" cy="2383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84449" cy="238332"/>
            </a:xfrm>
            <a:custGeom>
              <a:avLst/>
              <a:gdLst/>
              <a:ahLst/>
              <a:cxnLst/>
              <a:rect l="l" t="t" r="r" b="b"/>
              <a:pathLst>
                <a:path w="1684449" h="238332">
                  <a:moveTo>
                    <a:pt x="61735" y="0"/>
                  </a:moveTo>
                  <a:lnTo>
                    <a:pt x="1622714" y="0"/>
                  </a:lnTo>
                  <a:cubicBezTo>
                    <a:pt x="1656809" y="0"/>
                    <a:pt x="1684449" y="27640"/>
                    <a:pt x="1684449" y="61735"/>
                  </a:cubicBezTo>
                  <a:lnTo>
                    <a:pt x="1684449" y="176597"/>
                  </a:lnTo>
                  <a:cubicBezTo>
                    <a:pt x="1684449" y="210692"/>
                    <a:pt x="1656809" y="238332"/>
                    <a:pt x="1622714" y="238332"/>
                  </a:cubicBezTo>
                  <a:lnTo>
                    <a:pt x="61735" y="238332"/>
                  </a:lnTo>
                  <a:cubicBezTo>
                    <a:pt x="45362" y="238332"/>
                    <a:pt x="29660" y="231828"/>
                    <a:pt x="18082" y="220250"/>
                  </a:cubicBezTo>
                  <a:cubicBezTo>
                    <a:pt x="6504" y="208673"/>
                    <a:pt x="0" y="192970"/>
                    <a:pt x="0" y="176597"/>
                  </a:cubicBezTo>
                  <a:lnTo>
                    <a:pt x="0" y="61735"/>
                  </a:lnTo>
                  <a:cubicBezTo>
                    <a:pt x="0" y="27640"/>
                    <a:pt x="27640" y="0"/>
                    <a:pt x="617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84449" cy="276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39346" y="7073738"/>
            <a:ext cx="6395643" cy="904918"/>
            <a:chOff x="0" y="0"/>
            <a:chExt cx="1684449" cy="2383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84449" cy="238332"/>
            </a:xfrm>
            <a:custGeom>
              <a:avLst/>
              <a:gdLst/>
              <a:ahLst/>
              <a:cxnLst/>
              <a:rect l="l" t="t" r="r" b="b"/>
              <a:pathLst>
                <a:path w="1684449" h="238332">
                  <a:moveTo>
                    <a:pt x="61735" y="0"/>
                  </a:moveTo>
                  <a:lnTo>
                    <a:pt x="1622714" y="0"/>
                  </a:lnTo>
                  <a:cubicBezTo>
                    <a:pt x="1656809" y="0"/>
                    <a:pt x="1684449" y="27640"/>
                    <a:pt x="1684449" y="61735"/>
                  </a:cubicBezTo>
                  <a:lnTo>
                    <a:pt x="1684449" y="176597"/>
                  </a:lnTo>
                  <a:cubicBezTo>
                    <a:pt x="1684449" y="210692"/>
                    <a:pt x="1656809" y="238332"/>
                    <a:pt x="1622714" y="238332"/>
                  </a:cubicBezTo>
                  <a:lnTo>
                    <a:pt x="61735" y="238332"/>
                  </a:lnTo>
                  <a:cubicBezTo>
                    <a:pt x="45362" y="238332"/>
                    <a:pt x="29660" y="231828"/>
                    <a:pt x="18082" y="220250"/>
                  </a:cubicBezTo>
                  <a:cubicBezTo>
                    <a:pt x="6504" y="208673"/>
                    <a:pt x="0" y="192970"/>
                    <a:pt x="0" y="176597"/>
                  </a:cubicBezTo>
                  <a:lnTo>
                    <a:pt x="0" y="61735"/>
                  </a:lnTo>
                  <a:cubicBezTo>
                    <a:pt x="0" y="27640"/>
                    <a:pt x="27640" y="0"/>
                    <a:pt x="617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684449" cy="276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15780" y="3258475"/>
            <a:ext cx="2708034" cy="2708034"/>
            <a:chOff x="0" y="0"/>
            <a:chExt cx="3610712" cy="36107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0712" cy="3610712"/>
            </a:xfrm>
            <a:custGeom>
              <a:avLst/>
              <a:gdLst/>
              <a:ahLst/>
              <a:cxnLst/>
              <a:rect l="l" t="t" r="r" b="b"/>
              <a:pathLst>
                <a:path w="3610712" h="3610712">
                  <a:moveTo>
                    <a:pt x="0" y="0"/>
                  </a:moveTo>
                  <a:lnTo>
                    <a:pt x="3610712" y="0"/>
                  </a:lnTo>
                  <a:lnTo>
                    <a:pt x="3610712" y="3610712"/>
                  </a:lnTo>
                  <a:lnTo>
                    <a:pt x="0" y="3610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0"/>
              <a:ext cx="2984557" cy="2984557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4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841558" y="675047"/>
              <a:ext cx="1301442" cy="1634464"/>
            </a:xfrm>
            <a:custGeom>
              <a:avLst/>
              <a:gdLst/>
              <a:ahLst/>
              <a:cxnLst/>
              <a:rect l="l" t="t" r="r" b="b"/>
              <a:pathLst>
                <a:path w="1301442" h="1634464">
                  <a:moveTo>
                    <a:pt x="0" y="0"/>
                  </a:moveTo>
                  <a:lnTo>
                    <a:pt x="1301441" y="0"/>
                  </a:lnTo>
                  <a:lnTo>
                    <a:pt x="1301441" y="1634463"/>
                  </a:lnTo>
                  <a:lnTo>
                    <a:pt x="0" y="1634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10533" y="7068861"/>
            <a:ext cx="6500117" cy="904918"/>
            <a:chOff x="0" y="0"/>
            <a:chExt cx="1711965" cy="2383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11965" cy="238332"/>
            </a:xfrm>
            <a:custGeom>
              <a:avLst/>
              <a:gdLst/>
              <a:ahLst/>
              <a:cxnLst/>
              <a:rect l="l" t="t" r="r" b="b"/>
              <a:pathLst>
                <a:path w="1711965" h="238332">
                  <a:moveTo>
                    <a:pt x="60743" y="0"/>
                  </a:moveTo>
                  <a:lnTo>
                    <a:pt x="1651222" y="0"/>
                  </a:lnTo>
                  <a:cubicBezTo>
                    <a:pt x="1667332" y="0"/>
                    <a:pt x="1682782" y="6400"/>
                    <a:pt x="1694174" y="17791"/>
                  </a:cubicBezTo>
                  <a:cubicBezTo>
                    <a:pt x="1705565" y="29183"/>
                    <a:pt x="1711965" y="44633"/>
                    <a:pt x="1711965" y="60743"/>
                  </a:cubicBezTo>
                  <a:lnTo>
                    <a:pt x="1711965" y="177589"/>
                  </a:lnTo>
                  <a:cubicBezTo>
                    <a:pt x="1711965" y="193699"/>
                    <a:pt x="1705565" y="209149"/>
                    <a:pt x="1694174" y="220541"/>
                  </a:cubicBezTo>
                  <a:cubicBezTo>
                    <a:pt x="1682782" y="231933"/>
                    <a:pt x="1667332" y="238332"/>
                    <a:pt x="1651222" y="238332"/>
                  </a:cubicBezTo>
                  <a:lnTo>
                    <a:pt x="60743" y="238332"/>
                  </a:lnTo>
                  <a:cubicBezTo>
                    <a:pt x="44633" y="238332"/>
                    <a:pt x="29183" y="231933"/>
                    <a:pt x="17791" y="220541"/>
                  </a:cubicBezTo>
                  <a:cubicBezTo>
                    <a:pt x="6400" y="209149"/>
                    <a:pt x="0" y="193699"/>
                    <a:pt x="0" y="177589"/>
                  </a:cubicBezTo>
                  <a:lnTo>
                    <a:pt x="0" y="60743"/>
                  </a:lnTo>
                  <a:cubicBezTo>
                    <a:pt x="0" y="44633"/>
                    <a:pt x="6400" y="29183"/>
                    <a:pt x="17791" y="17791"/>
                  </a:cubicBezTo>
                  <a:cubicBezTo>
                    <a:pt x="29183" y="6400"/>
                    <a:pt x="44633" y="0"/>
                    <a:pt x="607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711965" cy="276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12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6402111"/>
            <a:ext cx="2238418" cy="2238418"/>
            <a:chOff x="0" y="0"/>
            <a:chExt cx="2984557" cy="2984557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2984557" cy="2984557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4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767832" y="811097"/>
              <a:ext cx="1448893" cy="1389126"/>
            </a:xfrm>
            <a:custGeom>
              <a:avLst/>
              <a:gdLst/>
              <a:ahLst/>
              <a:cxnLst/>
              <a:rect l="l" t="t" r="r" b="b"/>
              <a:pathLst>
                <a:path w="1448893" h="1389126">
                  <a:moveTo>
                    <a:pt x="0" y="0"/>
                  </a:moveTo>
                  <a:lnTo>
                    <a:pt x="1448893" y="0"/>
                  </a:lnTo>
                  <a:lnTo>
                    <a:pt x="1448893" y="1389126"/>
                  </a:lnTo>
                  <a:lnTo>
                    <a:pt x="0" y="1389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86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15780" y="6354486"/>
            <a:ext cx="2238418" cy="2238418"/>
            <a:chOff x="0" y="0"/>
            <a:chExt cx="2984557" cy="29845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84557" cy="2984557"/>
            </a:xfrm>
            <a:custGeom>
              <a:avLst/>
              <a:gdLst/>
              <a:ahLst/>
              <a:cxnLst/>
              <a:rect l="l" t="t" r="r" b="b"/>
              <a:pathLst>
                <a:path w="2984557" h="2984557">
                  <a:moveTo>
                    <a:pt x="0" y="0"/>
                  </a:moveTo>
                  <a:lnTo>
                    <a:pt x="2984557" y="0"/>
                  </a:lnTo>
                  <a:lnTo>
                    <a:pt x="2984557" y="2984557"/>
                  </a:lnTo>
                  <a:lnTo>
                    <a:pt x="0" y="2984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0" y="0"/>
              <a:ext cx="2984557" cy="2984557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4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763303" y="766038"/>
              <a:ext cx="1434186" cy="1434186"/>
            </a:xfrm>
            <a:custGeom>
              <a:avLst/>
              <a:gdLst/>
              <a:ahLst/>
              <a:cxnLst/>
              <a:rect l="l" t="t" r="r" b="b"/>
              <a:pathLst>
                <a:path w="1434186" h="1434186">
                  <a:moveTo>
                    <a:pt x="0" y="0"/>
                  </a:moveTo>
                  <a:lnTo>
                    <a:pt x="1434186" y="0"/>
                  </a:lnTo>
                  <a:lnTo>
                    <a:pt x="1434186" y="1434185"/>
                  </a:lnTo>
                  <a:lnTo>
                    <a:pt x="0" y="1434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0" name="Freeform 40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050544" y="4221967"/>
            <a:ext cx="348456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Start with the Why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89444" y="4228505"/>
            <a:ext cx="395533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1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Clear Ownership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93884" y="7326058"/>
            <a:ext cx="42718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Seamless Flow Design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882983" y="7369034"/>
            <a:ext cx="286179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12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Easily Replicable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3" b="1" i="0" u="none" strike="noStrike" kern="1200" cap="none" spc="-2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8917" y="651853"/>
            <a:ext cx="16751808" cy="925144"/>
            <a:chOff x="0" y="0"/>
            <a:chExt cx="22335744" cy="1233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35744" cy="1233526"/>
            </a:xfrm>
            <a:custGeom>
              <a:avLst/>
              <a:gdLst/>
              <a:ahLst/>
              <a:cxnLst/>
              <a:rect l="l" t="t" r="r" b="b"/>
              <a:pathLst>
                <a:path w="22335744" h="1233526">
                  <a:moveTo>
                    <a:pt x="0" y="0"/>
                  </a:moveTo>
                  <a:lnTo>
                    <a:pt x="22335744" y="0"/>
                  </a:lnTo>
                  <a:lnTo>
                    <a:pt x="22335744" y="1233526"/>
                  </a:lnTo>
                  <a:lnTo>
                    <a:pt x="0" y="12335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238" b="-28840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335744" cy="1243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5F7F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DEPARTMENT WORKSTREAMS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6680" y="1485773"/>
            <a:ext cx="17174641" cy="8602848"/>
            <a:chOff x="0" y="0"/>
            <a:chExt cx="22899521" cy="11470465"/>
          </a:xfrm>
        </p:grpSpPr>
        <p:grpSp>
          <p:nvGrpSpPr>
            <p:cNvPr id="6" name="Group 6"/>
            <p:cNvGrpSpPr/>
            <p:nvPr/>
          </p:nvGrpSpPr>
          <p:grpSpPr>
            <a:xfrm>
              <a:off x="8483" y="8483"/>
              <a:ext cx="5568294" cy="5592749"/>
              <a:chOff x="0" y="0"/>
              <a:chExt cx="5552097" cy="557648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585285" cy="205156"/>
              <a:chOff x="0" y="0"/>
              <a:chExt cx="5569039" cy="20455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42372" y="550241"/>
              <a:ext cx="302976" cy="302976"/>
              <a:chOff x="0" y="0"/>
              <a:chExt cx="302095" cy="30209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50633" y="359350"/>
              <a:ext cx="4670931" cy="684744"/>
              <a:chOff x="0" y="0"/>
              <a:chExt cx="4657344" cy="68275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CEO OFFICE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50855" y="1231240"/>
              <a:ext cx="4883550" cy="16978"/>
              <a:chOff x="0" y="0"/>
              <a:chExt cx="4869345" cy="1692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42372" y="1724087"/>
              <a:ext cx="205156" cy="205156"/>
              <a:chOff x="0" y="0"/>
              <a:chExt cx="204559" cy="20455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77267" y="1410921"/>
              <a:ext cx="4719841" cy="831475"/>
              <a:chOff x="0" y="0"/>
              <a:chExt cx="4706112" cy="82905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Narrative approval &amp; keynote final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42372" y="2555562"/>
              <a:ext cx="205156" cy="205156"/>
              <a:chOff x="0" y="0"/>
              <a:chExt cx="204559" cy="20455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77267" y="2242396"/>
              <a:ext cx="4719841" cy="831475"/>
              <a:chOff x="0" y="0"/>
              <a:chExt cx="4706112" cy="82905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Announcement decision + CEO briefing pack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42372" y="3387036"/>
              <a:ext cx="205156" cy="205156"/>
              <a:chOff x="0" y="0"/>
              <a:chExt cx="204559" cy="20455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77267" y="3073870"/>
              <a:ext cx="4719841" cy="831475"/>
              <a:chOff x="0" y="0"/>
              <a:chExt cx="4706112" cy="82905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 dirty="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On-stage presence + strategic meetings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00250" y="4653265"/>
              <a:ext cx="4984772" cy="705123"/>
              <a:chOff x="0" y="0"/>
              <a:chExt cx="4970272" cy="70307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F5A623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10440" y="4663454"/>
              <a:ext cx="4964392" cy="684744"/>
              <a:chOff x="0" y="0"/>
              <a:chExt cx="4949952" cy="68275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Keynote → Tahaluf: W8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79895" y="8483"/>
              <a:ext cx="5568294" cy="5592749"/>
              <a:chOff x="0" y="0"/>
              <a:chExt cx="5552097" cy="557648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771412" y="0"/>
              <a:ext cx="5585285" cy="205156"/>
              <a:chOff x="0" y="0"/>
              <a:chExt cx="5569039" cy="204559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113784" y="550241"/>
              <a:ext cx="302976" cy="302976"/>
              <a:chOff x="0" y="0"/>
              <a:chExt cx="302095" cy="30209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522044" y="359350"/>
              <a:ext cx="4670931" cy="684744"/>
              <a:chOff x="0" y="0"/>
              <a:chExt cx="4657344" cy="68275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COMMS &amp; PMO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122267" y="1231240"/>
              <a:ext cx="4883550" cy="16978"/>
              <a:chOff x="0" y="0"/>
              <a:chExt cx="4869345" cy="1692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113784" y="1724087"/>
              <a:ext cx="205156" cy="205156"/>
              <a:chOff x="0" y="0"/>
              <a:chExt cx="204559" cy="20455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448679" y="1410921"/>
              <a:ext cx="4719841" cy="831475"/>
              <a:chOff x="0" y="0"/>
              <a:chExt cx="4706112" cy="82905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Master tracker, RACI + communication rhythm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113784" y="2555562"/>
              <a:ext cx="205156" cy="205156"/>
              <a:chOff x="0" y="0"/>
              <a:chExt cx="204559" cy="20455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6448679" y="2242396"/>
              <a:ext cx="4719841" cy="831475"/>
              <a:chOff x="0" y="0"/>
              <a:chExt cx="4706112" cy="82905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Narrative, press releases + media strategy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6113784" y="3387036"/>
              <a:ext cx="205156" cy="205156"/>
              <a:chOff x="0" y="0"/>
              <a:chExt cx="204559" cy="204559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6448679" y="3073870"/>
              <a:ext cx="4719841" cy="831475"/>
              <a:chOff x="0" y="0"/>
              <a:chExt cx="4706112" cy="82905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Tahaluf interface + all 6 frameworks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6071662" y="4653265"/>
              <a:ext cx="4984772" cy="705123"/>
              <a:chOff x="0" y="0"/>
              <a:chExt cx="4970272" cy="703072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6366F1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6081852" y="4663454"/>
              <a:ext cx="4964392" cy="684744"/>
              <a:chOff x="0" y="0"/>
              <a:chExt cx="4949952" cy="682752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Kickoff complete: W12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1551307" y="8483"/>
              <a:ext cx="5568294" cy="5592749"/>
              <a:chOff x="0" y="0"/>
              <a:chExt cx="5552097" cy="5576481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84" name="Freeform 84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1542824" y="0"/>
              <a:ext cx="5585285" cy="205156"/>
              <a:chOff x="0" y="0"/>
              <a:chExt cx="5569039" cy="204559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87" name="Freeform 87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1885196" y="550241"/>
              <a:ext cx="302976" cy="302976"/>
              <a:chOff x="0" y="0"/>
              <a:chExt cx="302095" cy="30209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90" name="Freeform 90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12293456" y="359350"/>
              <a:ext cx="4670931" cy="684744"/>
              <a:chOff x="0" y="0"/>
              <a:chExt cx="4657344" cy="682752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DESIGN &amp; BRAND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11893679" y="1231240"/>
              <a:ext cx="4883550" cy="16978"/>
              <a:chOff x="0" y="0"/>
              <a:chExt cx="4869345" cy="16929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11885196" y="1724087"/>
              <a:ext cx="205156" cy="205156"/>
              <a:chOff x="0" y="0"/>
              <a:chExt cx="204559" cy="204559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98" name="Freeform 98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12220091" y="1410921"/>
              <a:ext cx="4719841" cy="831475"/>
              <a:chOff x="0" y="0"/>
              <a:chExt cx="4706112" cy="829056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Booth concept (380+ sqm) + all assets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11885196" y="2555562"/>
              <a:ext cx="205156" cy="205156"/>
              <a:chOff x="0" y="0"/>
              <a:chExt cx="204559" cy="204559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04" name="Freeform 104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12220091" y="2242396"/>
              <a:ext cx="4719841" cy="831475"/>
              <a:chOff x="0" y="0"/>
              <a:chExt cx="4706112" cy="829056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Billboards, flags, banners + digital booth</a:t>
                </a: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1885196" y="3387036"/>
              <a:ext cx="205156" cy="205156"/>
              <a:chOff x="0" y="0"/>
              <a:chExt cx="204559" cy="204559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10" name="Freeform 110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2220091" y="3073870"/>
              <a:ext cx="4719841" cy="831475"/>
              <a:chOff x="0" y="0"/>
              <a:chExt cx="4706112" cy="829056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Tahaluf brand approvals + booth build</a:t>
                </a: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11843074" y="4653265"/>
              <a:ext cx="4984772" cy="705123"/>
              <a:chOff x="0" y="0"/>
              <a:chExt cx="4970272" cy="703072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16" name="Freeform 116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00A86B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1853264" y="4663454"/>
              <a:ext cx="4964392" cy="684744"/>
              <a:chOff x="0" y="0"/>
              <a:chExt cx="4949952" cy="682752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All assets → Tahaluf: W6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17322719" y="8483"/>
              <a:ext cx="5568294" cy="5592749"/>
              <a:chOff x="0" y="0"/>
              <a:chExt cx="5552097" cy="5576481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22" name="Freeform 122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17314236" y="0"/>
              <a:ext cx="5585285" cy="205156"/>
              <a:chOff x="0" y="0"/>
              <a:chExt cx="5569039" cy="204559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25" name="Freeform 125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17656608" y="550241"/>
              <a:ext cx="302976" cy="302976"/>
              <a:chOff x="0" y="0"/>
              <a:chExt cx="302095" cy="302095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28" name="Freeform 128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18064868" y="359350"/>
              <a:ext cx="4670931" cy="684744"/>
              <a:chOff x="0" y="0"/>
              <a:chExt cx="4657344" cy="682752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LEGAL</a:t>
                </a: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17665090" y="1231240"/>
              <a:ext cx="4883550" cy="16978"/>
              <a:chOff x="0" y="0"/>
              <a:chExt cx="4869345" cy="1692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17656608" y="1724087"/>
              <a:ext cx="205156" cy="205156"/>
              <a:chOff x="0" y="0"/>
              <a:chExt cx="204559" cy="204559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36" name="Freeform 136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17991503" y="1410921"/>
              <a:ext cx="4719841" cy="831475"/>
              <a:chOff x="0" y="0"/>
              <a:chExt cx="4706112" cy="829056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Announcement legal clearance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17656608" y="2555562"/>
              <a:ext cx="205156" cy="205156"/>
              <a:chOff x="0" y="0"/>
              <a:chExt cx="204559" cy="204559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2" name="Freeform 142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>
              <a:off x="17991503" y="2242396"/>
              <a:ext cx="4719841" cy="831475"/>
              <a:chOff x="0" y="0"/>
              <a:chExt cx="4706112" cy="829056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Vendor contracts + NDA management</a:t>
                </a: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17656608" y="3387036"/>
              <a:ext cx="205156" cy="205156"/>
              <a:chOff x="0" y="0"/>
              <a:chExt cx="204559" cy="204559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8" name="Freeform 148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17991503" y="3073870"/>
              <a:ext cx="4719841" cy="831475"/>
              <a:chOff x="0" y="0"/>
              <a:chExt cx="4706112" cy="829056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1" name="TextBox 151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Press release sign-off + final clearances</a:t>
                </a:r>
              </a:p>
            </p:txBody>
          </p:sp>
        </p:grpSp>
        <p:grpSp>
          <p:nvGrpSpPr>
            <p:cNvPr id="152" name="Group 152"/>
            <p:cNvGrpSpPr/>
            <p:nvPr/>
          </p:nvGrpSpPr>
          <p:grpSpPr>
            <a:xfrm>
              <a:off x="17614486" y="4653265"/>
              <a:ext cx="4984772" cy="705123"/>
              <a:chOff x="0" y="0"/>
              <a:chExt cx="4970272" cy="703072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4" name="Freeform 154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55" name="Group 155"/>
            <p:cNvGrpSpPr/>
            <p:nvPr/>
          </p:nvGrpSpPr>
          <p:grpSpPr>
            <a:xfrm>
              <a:off x="17624676" y="4663454"/>
              <a:ext cx="4964392" cy="684744"/>
              <a:chOff x="0" y="0"/>
              <a:chExt cx="4949952" cy="682752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Announcement cleared: W4</a:t>
                </a:r>
              </a:p>
            </p:txBody>
          </p:sp>
        </p:grpSp>
        <p:grpSp>
          <p:nvGrpSpPr>
            <p:cNvPr id="158" name="Group 158"/>
            <p:cNvGrpSpPr/>
            <p:nvPr/>
          </p:nvGrpSpPr>
          <p:grpSpPr>
            <a:xfrm>
              <a:off x="8483" y="5877715"/>
              <a:ext cx="5568294" cy="5592749"/>
              <a:chOff x="0" y="0"/>
              <a:chExt cx="5552097" cy="5576481"/>
            </a:xfrm>
          </p:grpSpPr>
          <p:sp>
            <p:nvSpPr>
              <p:cNvPr id="159" name="Freeform 159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0" name="Freeform 160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61" name="Group 161"/>
            <p:cNvGrpSpPr/>
            <p:nvPr/>
          </p:nvGrpSpPr>
          <p:grpSpPr>
            <a:xfrm>
              <a:off x="0" y="5869232"/>
              <a:ext cx="5585285" cy="205156"/>
              <a:chOff x="0" y="0"/>
              <a:chExt cx="5569039" cy="204559"/>
            </a:xfrm>
          </p:grpSpPr>
          <p:sp>
            <p:nvSpPr>
              <p:cNvPr id="162" name="Freeform 162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3" name="Freeform 163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64" name="Group 164"/>
            <p:cNvGrpSpPr/>
            <p:nvPr/>
          </p:nvGrpSpPr>
          <p:grpSpPr>
            <a:xfrm>
              <a:off x="342372" y="6419473"/>
              <a:ext cx="302976" cy="302976"/>
              <a:chOff x="0" y="0"/>
              <a:chExt cx="302095" cy="302095"/>
            </a:xfrm>
          </p:grpSpPr>
          <p:sp>
            <p:nvSpPr>
              <p:cNvPr id="165" name="Freeform 165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6" name="Freeform 166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67" name="Group 167"/>
            <p:cNvGrpSpPr/>
            <p:nvPr/>
          </p:nvGrpSpPr>
          <p:grpSpPr>
            <a:xfrm>
              <a:off x="750633" y="6228583"/>
              <a:ext cx="4670931" cy="684744"/>
              <a:chOff x="0" y="0"/>
              <a:chExt cx="4657344" cy="682752"/>
            </a:xfrm>
          </p:grpSpPr>
          <p:sp>
            <p:nvSpPr>
              <p:cNvPr id="168" name="Freeform 168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9" name="TextBox 169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FINANCE</a:t>
                </a:r>
              </a:p>
            </p:txBody>
          </p:sp>
        </p:grpSp>
        <p:grpSp>
          <p:nvGrpSpPr>
            <p:cNvPr id="170" name="Group 170"/>
            <p:cNvGrpSpPr/>
            <p:nvPr/>
          </p:nvGrpSpPr>
          <p:grpSpPr>
            <a:xfrm>
              <a:off x="350855" y="7100472"/>
              <a:ext cx="4883550" cy="16978"/>
              <a:chOff x="0" y="0"/>
              <a:chExt cx="4869345" cy="16929"/>
            </a:xfrm>
          </p:grpSpPr>
          <p:sp>
            <p:nvSpPr>
              <p:cNvPr id="171" name="Freeform 171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342372" y="7593319"/>
              <a:ext cx="205156" cy="205156"/>
              <a:chOff x="0" y="0"/>
              <a:chExt cx="204559" cy="204559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4" name="Freeform 174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677267" y="7280154"/>
              <a:ext cx="4719841" cy="831475"/>
              <a:chOff x="0" y="0"/>
              <a:chExt cx="4706112" cy="829056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Budget locked + live variance tracker</a:t>
                </a: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342372" y="8424794"/>
              <a:ext cx="205156" cy="205156"/>
              <a:chOff x="0" y="0"/>
              <a:chExt cx="204559" cy="204559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0" name="Freeform 180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677267" y="8111628"/>
              <a:ext cx="4719841" cy="831475"/>
              <a:chOff x="0" y="0"/>
              <a:chExt cx="4706112" cy="829056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Vendor payment schedule + contracts</a:t>
                </a: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42372" y="9256269"/>
              <a:ext cx="205156" cy="205156"/>
              <a:chOff x="0" y="0"/>
              <a:chExt cx="204559" cy="204559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6" name="Freeform 186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677267" y="8943103"/>
              <a:ext cx="4719841" cy="831475"/>
              <a:chOff x="0" y="0"/>
              <a:chExt cx="4706112" cy="829056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Post-event budget vs actual report</a:t>
                </a: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300250" y="10522497"/>
              <a:ext cx="4984772" cy="705123"/>
              <a:chOff x="0" y="0"/>
              <a:chExt cx="4970272" cy="703072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2" name="Freeform 192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F9731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310440" y="10532687"/>
              <a:ext cx="4964392" cy="684744"/>
              <a:chOff x="0" y="0"/>
              <a:chExt cx="4949952" cy="682752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Budget locked: W12</a:t>
                </a: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5779895" y="5877715"/>
              <a:ext cx="5568294" cy="5592749"/>
              <a:chOff x="0" y="0"/>
              <a:chExt cx="5552097" cy="5576481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8" name="Freeform 198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5771412" y="5869232"/>
              <a:ext cx="5585285" cy="205156"/>
              <a:chOff x="0" y="0"/>
              <a:chExt cx="5569039" cy="204559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1" name="Freeform 201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6113784" y="6419473"/>
              <a:ext cx="302976" cy="302976"/>
              <a:chOff x="0" y="0"/>
              <a:chExt cx="302095" cy="302095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4" name="Freeform 204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6522044" y="6228583"/>
              <a:ext cx="4670931" cy="684744"/>
              <a:chOff x="0" y="0"/>
              <a:chExt cx="4657344" cy="682752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7" name="TextBox 207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HR &amp; PEOPLE</a:t>
                </a: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6122267" y="7100472"/>
              <a:ext cx="4883550" cy="16978"/>
              <a:chOff x="0" y="0"/>
              <a:chExt cx="4869345" cy="16929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10" name="Group 210"/>
            <p:cNvGrpSpPr/>
            <p:nvPr/>
          </p:nvGrpSpPr>
          <p:grpSpPr>
            <a:xfrm>
              <a:off x="6113784" y="7593319"/>
              <a:ext cx="205156" cy="205156"/>
              <a:chOff x="0" y="0"/>
              <a:chExt cx="204559" cy="204559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12" name="Freeform 212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13" name="Group 213"/>
            <p:cNvGrpSpPr/>
            <p:nvPr/>
          </p:nvGrpSpPr>
          <p:grpSpPr>
            <a:xfrm>
              <a:off x="6448679" y="7280154"/>
              <a:ext cx="4719841" cy="831475"/>
              <a:chOff x="0" y="0"/>
              <a:chExt cx="4706112" cy="829056"/>
            </a:xfrm>
          </p:grpSpPr>
          <p:sp>
            <p:nvSpPr>
              <p:cNvPr id="214" name="Freeform 214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15" name="TextBox 215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Employer brand + talent strategy for event</a:t>
                </a:r>
              </a:p>
            </p:txBody>
          </p:sp>
        </p:grpSp>
        <p:grpSp>
          <p:nvGrpSpPr>
            <p:cNvPr id="216" name="Group 216"/>
            <p:cNvGrpSpPr/>
            <p:nvPr/>
          </p:nvGrpSpPr>
          <p:grpSpPr>
            <a:xfrm>
              <a:off x="6113784" y="8424794"/>
              <a:ext cx="205156" cy="205156"/>
              <a:chOff x="0" y="0"/>
              <a:chExt cx="204559" cy="204559"/>
            </a:xfrm>
          </p:grpSpPr>
          <p:sp>
            <p:nvSpPr>
              <p:cNvPr id="217" name="Freeform 217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18" name="Freeform 218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19" name="Group 219"/>
            <p:cNvGrpSpPr/>
            <p:nvPr/>
          </p:nvGrpSpPr>
          <p:grpSpPr>
            <a:xfrm>
              <a:off x="6448679" y="8111628"/>
              <a:ext cx="4719841" cy="831475"/>
              <a:chOff x="0" y="0"/>
              <a:chExt cx="4706112" cy="829056"/>
            </a:xfrm>
          </p:grpSpPr>
          <p:sp>
            <p:nvSpPr>
              <p:cNvPr id="220" name="Freeform 220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1" name="TextBox 221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30-pass allocation + travel &amp; accommodation</a:t>
                </a:r>
              </a:p>
            </p:txBody>
          </p:sp>
        </p:grpSp>
        <p:grpSp>
          <p:nvGrpSpPr>
            <p:cNvPr id="222" name="Group 222"/>
            <p:cNvGrpSpPr/>
            <p:nvPr/>
          </p:nvGrpSpPr>
          <p:grpSpPr>
            <a:xfrm>
              <a:off x="6113784" y="9256269"/>
              <a:ext cx="205156" cy="205156"/>
              <a:chOff x="0" y="0"/>
              <a:chExt cx="204559" cy="204559"/>
            </a:xfrm>
          </p:grpSpPr>
          <p:sp>
            <p:nvSpPr>
              <p:cNvPr id="223" name="Freeform 223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4" name="Freeform 224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25" name="Group 225"/>
            <p:cNvGrpSpPr/>
            <p:nvPr/>
          </p:nvGrpSpPr>
          <p:grpSpPr>
            <a:xfrm>
              <a:off x="6448679" y="8943103"/>
              <a:ext cx="4719841" cy="831475"/>
              <a:chOff x="0" y="0"/>
              <a:chExt cx="4706112" cy="829056"/>
            </a:xfrm>
          </p:grpSpPr>
          <p:sp>
            <p:nvSpPr>
              <p:cNvPr id="226" name="Freeform 226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7" name="TextBox 227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Staff briefing packs + on-ground coordination</a:t>
                </a:r>
              </a:p>
            </p:txBody>
          </p:sp>
        </p:grpSp>
        <p:grpSp>
          <p:nvGrpSpPr>
            <p:cNvPr id="228" name="Group 228"/>
            <p:cNvGrpSpPr/>
            <p:nvPr/>
          </p:nvGrpSpPr>
          <p:grpSpPr>
            <a:xfrm>
              <a:off x="6071662" y="10522497"/>
              <a:ext cx="4984772" cy="705123"/>
              <a:chOff x="0" y="0"/>
              <a:chExt cx="4970272" cy="703072"/>
            </a:xfrm>
          </p:grpSpPr>
          <p:sp>
            <p:nvSpPr>
              <p:cNvPr id="229" name="Freeform 229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0" name="Freeform 230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A855F7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31" name="Group 231"/>
            <p:cNvGrpSpPr/>
            <p:nvPr/>
          </p:nvGrpSpPr>
          <p:grpSpPr>
            <a:xfrm>
              <a:off x="6081852" y="10532687"/>
              <a:ext cx="4964392" cy="684744"/>
              <a:chOff x="0" y="0"/>
              <a:chExt cx="4949952" cy="682752"/>
            </a:xfrm>
          </p:grpSpPr>
          <p:sp>
            <p:nvSpPr>
              <p:cNvPr id="232" name="Freeform 232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3" name="TextBox 233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All passes + packs: W1</a:t>
                </a:r>
              </a:p>
            </p:txBody>
          </p:sp>
        </p:grpSp>
        <p:grpSp>
          <p:nvGrpSpPr>
            <p:cNvPr id="234" name="Group 234"/>
            <p:cNvGrpSpPr/>
            <p:nvPr/>
          </p:nvGrpSpPr>
          <p:grpSpPr>
            <a:xfrm>
              <a:off x="11551307" y="5877715"/>
              <a:ext cx="5568294" cy="5592749"/>
              <a:chOff x="0" y="0"/>
              <a:chExt cx="5552097" cy="5576481"/>
            </a:xfrm>
          </p:grpSpPr>
          <p:sp>
            <p:nvSpPr>
              <p:cNvPr id="235" name="Freeform 235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6" name="Freeform 236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37" name="Group 237"/>
            <p:cNvGrpSpPr/>
            <p:nvPr/>
          </p:nvGrpSpPr>
          <p:grpSpPr>
            <a:xfrm>
              <a:off x="11542824" y="5869232"/>
              <a:ext cx="5585285" cy="205156"/>
              <a:chOff x="0" y="0"/>
              <a:chExt cx="5569039" cy="204559"/>
            </a:xfrm>
          </p:grpSpPr>
          <p:sp>
            <p:nvSpPr>
              <p:cNvPr id="238" name="Freeform 238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9" name="Freeform 239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40" name="Group 240"/>
            <p:cNvGrpSpPr/>
            <p:nvPr/>
          </p:nvGrpSpPr>
          <p:grpSpPr>
            <a:xfrm>
              <a:off x="11885196" y="6419473"/>
              <a:ext cx="302976" cy="302976"/>
              <a:chOff x="0" y="0"/>
              <a:chExt cx="302095" cy="302095"/>
            </a:xfrm>
          </p:grpSpPr>
          <p:sp>
            <p:nvSpPr>
              <p:cNvPr id="241" name="Freeform 241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42" name="Freeform 242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43" name="Group 243"/>
            <p:cNvGrpSpPr/>
            <p:nvPr/>
          </p:nvGrpSpPr>
          <p:grpSpPr>
            <a:xfrm>
              <a:off x="12293456" y="6228583"/>
              <a:ext cx="4670931" cy="684744"/>
              <a:chOff x="0" y="0"/>
              <a:chExt cx="4657344" cy="682752"/>
            </a:xfrm>
          </p:grpSpPr>
          <p:sp>
            <p:nvSpPr>
              <p:cNvPr id="244" name="Freeform 244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45" name="TextBox 245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PRODUCT</a:t>
                </a:r>
              </a:p>
            </p:txBody>
          </p:sp>
        </p:grpSp>
        <p:grpSp>
          <p:nvGrpSpPr>
            <p:cNvPr id="246" name="Group 246"/>
            <p:cNvGrpSpPr/>
            <p:nvPr/>
          </p:nvGrpSpPr>
          <p:grpSpPr>
            <a:xfrm>
              <a:off x="11893679" y="7100472"/>
              <a:ext cx="4883550" cy="16978"/>
              <a:chOff x="0" y="0"/>
              <a:chExt cx="4869345" cy="16929"/>
            </a:xfrm>
          </p:grpSpPr>
          <p:sp>
            <p:nvSpPr>
              <p:cNvPr id="247" name="Freeform 247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48" name="Group 248"/>
            <p:cNvGrpSpPr/>
            <p:nvPr/>
          </p:nvGrpSpPr>
          <p:grpSpPr>
            <a:xfrm>
              <a:off x="11885196" y="7593319"/>
              <a:ext cx="205156" cy="205156"/>
              <a:chOff x="0" y="0"/>
              <a:chExt cx="204559" cy="204559"/>
            </a:xfrm>
          </p:grpSpPr>
          <p:sp>
            <p:nvSpPr>
              <p:cNvPr id="249" name="Freeform 249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0" name="Freeform 250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51" name="Group 251"/>
            <p:cNvGrpSpPr/>
            <p:nvPr/>
          </p:nvGrpSpPr>
          <p:grpSpPr>
            <a:xfrm>
              <a:off x="12220091" y="7280154"/>
              <a:ext cx="4719841" cy="831475"/>
              <a:chOff x="0" y="0"/>
              <a:chExt cx="4706112" cy="829056"/>
            </a:xfrm>
          </p:grpSpPr>
          <p:sp>
            <p:nvSpPr>
              <p:cNvPr id="252" name="Freeform 252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3" name="TextBox 253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Announcement brief + product narrative</a:t>
                </a:r>
              </a:p>
            </p:txBody>
          </p:sp>
        </p:grpSp>
        <p:grpSp>
          <p:nvGrpSpPr>
            <p:cNvPr id="254" name="Group 254"/>
            <p:cNvGrpSpPr/>
            <p:nvPr/>
          </p:nvGrpSpPr>
          <p:grpSpPr>
            <a:xfrm>
              <a:off x="11885196" y="8424794"/>
              <a:ext cx="205156" cy="205156"/>
              <a:chOff x="0" y="0"/>
              <a:chExt cx="204559" cy="204559"/>
            </a:xfrm>
          </p:grpSpPr>
          <p:sp>
            <p:nvSpPr>
              <p:cNvPr id="255" name="Freeform 255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6" name="Freeform 256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57" name="Group 257"/>
            <p:cNvGrpSpPr/>
            <p:nvPr/>
          </p:nvGrpSpPr>
          <p:grpSpPr>
            <a:xfrm>
              <a:off x="12220091" y="8111628"/>
              <a:ext cx="4719841" cy="831475"/>
              <a:chOff x="0" y="0"/>
              <a:chExt cx="4706112" cy="829056"/>
            </a:xfrm>
          </p:grpSpPr>
          <p:sp>
            <p:nvSpPr>
              <p:cNvPr id="258" name="Freeform 258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9" name="TextBox 259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Booth demo brief + tech specs</a:t>
                </a:r>
              </a:p>
            </p:txBody>
          </p:sp>
        </p:grpSp>
        <p:grpSp>
          <p:nvGrpSpPr>
            <p:cNvPr id="260" name="Group 260"/>
            <p:cNvGrpSpPr/>
            <p:nvPr/>
          </p:nvGrpSpPr>
          <p:grpSpPr>
            <a:xfrm>
              <a:off x="11885196" y="9256269"/>
              <a:ext cx="205156" cy="205156"/>
              <a:chOff x="0" y="0"/>
              <a:chExt cx="204559" cy="204559"/>
            </a:xfrm>
          </p:grpSpPr>
          <p:sp>
            <p:nvSpPr>
              <p:cNvPr id="261" name="Freeform 261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2" name="Freeform 262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63" name="Group 263"/>
            <p:cNvGrpSpPr/>
            <p:nvPr/>
          </p:nvGrpSpPr>
          <p:grpSpPr>
            <a:xfrm>
              <a:off x="12220091" y="8943103"/>
              <a:ext cx="4719841" cy="831475"/>
              <a:chOff x="0" y="0"/>
              <a:chExt cx="4706112" cy="829056"/>
            </a:xfrm>
          </p:grpSpPr>
          <p:sp>
            <p:nvSpPr>
              <p:cNvPr id="264" name="Freeform 264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5" name="TextBox 265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Live product moment on-site (D1)</a:t>
                </a:r>
              </a:p>
            </p:txBody>
          </p:sp>
        </p:grpSp>
        <p:grpSp>
          <p:nvGrpSpPr>
            <p:cNvPr id="266" name="Group 266"/>
            <p:cNvGrpSpPr/>
            <p:nvPr/>
          </p:nvGrpSpPr>
          <p:grpSpPr>
            <a:xfrm>
              <a:off x="11843074" y="10522497"/>
              <a:ext cx="4984772" cy="705123"/>
              <a:chOff x="0" y="0"/>
              <a:chExt cx="4970272" cy="703072"/>
            </a:xfrm>
          </p:grpSpPr>
          <p:sp>
            <p:nvSpPr>
              <p:cNvPr id="267" name="Freeform 267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8" name="Freeform 268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14B8A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69" name="Group 269"/>
            <p:cNvGrpSpPr/>
            <p:nvPr/>
          </p:nvGrpSpPr>
          <p:grpSpPr>
            <a:xfrm>
              <a:off x="11853264" y="10532687"/>
              <a:ext cx="4964392" cy="684744"/>
              <a:chOff x="0" y="0"/>
              <a:chExt cx="4949952" cy="682752"/>
            </a:xfrm>
          </p:grpSpPr>
          <p:sp>
            <p:nvSpPr>
              <p:cNvPr id="270" name="Freeform 270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1" name="TextBox 271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Brief → Comms: W8</a:t>
                </a:r>
              </a:p>
            </p:txBody>
          </p:sp>
        </p:grpSp>
        <p:grpSp>
          <p:nvGrpSpPr>
            <p:cNvPr id="272" name="Group 272"/>
            <p:cNvGrpSpPr/>
            <p:nvPr/>
          </p:nvGrpSpPr>
          <p:grpSpPr>
            <a:xfrm>
              <a:off x="17322719" y="5877715"/>
              <a:ext cx="5568294" cy="5592749"/>
              <a:chOff x="0" y="0"/>
              <a:chExt cx="5552097" cy="5576481"/>
            </a:xfrm>
          </p:grpSpPr>
          <p:sp>
            <p:nvSpPr>
              <p:cNvPr id="273" name="Freeform 273"/>
              <p:cNvSpPr/>
              <p:nvPr/>
            </p:nvSpPr>
            <p:spPr>
              <a:xfrm>
                <a:off x="8509" y="8509"/>
                <a:ext cx="5535168" cy="5559552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5559552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5559552"/>
                    </a:lnTo>
                    <a:lnTo>
                      <a:pt x="0" y="5559552"/>
                    </a:lnTo>
                    <a:close/>
                  </a:path>
                </a:pathLst>
              </a:custGeom>
              <a:solidFill>
                <a:srgbClr val="141B2D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4" name="Freeform 274"/>
              <p:cNvSpPr/>
              <p:nvPr/>
            </p:nvSpPr>
            <p:spPr>
              <a:xfrm>
                <a:off x="0" y="0"/>
                <a:ext cx="5552186" cy="5576570"/>
              </a:xfrm>
              <a:custGeom>
                <a:avLst/>
                <a:gdLst/>
                <a:ahLst/>
                <a:cxnLst/>
                <a:rect l="l" t="t" r="r" b="b"/>
                <a:pathLst>
                  <a:path w="5552186" h="5576570">
                    <a:moveTo>
                      <a:pt x="8509" y="0"/>
                    </a:moveTo>
                    <a:lnTo>
                      <a:pt x="5543677" y="0"/>
                    </a:lnTo>
                    <a:cubicBezTo>
                      <a:pt x="5548376" y="0"/>
                      <a:pt x="5552186" y="3810"/>
                      <a:pt x="5552186" y="8509"/>
                    </a:cubicBezTo>
                    <a:lnTo>
                      <a:pt x="5552186" y="5568061"/>
                    </a:lnTo>
                    <a:cubicBezTo>
                      <a:pt x="5552186" y="5572760"/>
                      <a:pt x="5548376" y="5576570"/>
                      <a:pt x="5543677" y="5576570"/>
                    </a:cubicBezTo>
                    <a:lnTo>
                      <a:pt x="8509" y="5576570"/>
                    </a:lnTo>
                    <a:cubicBezTo>
                      <a:pt x="3810" y="5576570"/>
                      <a:pt x="0" y="5572760"/>
                      <a:pt x="0" y="5568061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5568061"/>
                    </a:lnTo>
                    <a:lnTo>
                      <a:pt x="8509" y="5568061"/>
                    </a:lnTo>
                    <a:lnTo>
                      <a:pt x="8509" y="5559552"/>
                    </a:lnTo>
                    <a:lnTo>
                      <a:pt x="5543677" y="5559552"/>
                    </a:lnTo>
                    <a:lnTo>
                      <a:pt x="5543677" y="5568061"/>
                    </a:lnTo>
                    <a:lnTo>
                      <a:pt x="5535168" y="5568061"/>
                    </a:lnTo>
                    <a:lnTo>
                      <a:pt x="5535168" y="8509"/>
                    </a:lnTo>
                    <a:lnTo>
                      <a:pt x="5543677" y="8509"/>
                    </a:lnTo>
                    <a:lnTo>
                      <a:pt x="554367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75" name="Group 275"/>
            <p:cNvGrpSpPr/>
            <p:nvPr/>
          </p:nvGrpSpPr>
          <p:grpSpPr>
            <a:xfrm>
              <a:off x="17314236" y="5869232"/>
              <a:ext cx="5585285" cy="205156"/>
              <a:chOff x="0" y="0"/>
              <a:chExt cx="5569039" cy="204559"/>
            </a:xfrm>
          </p:grpSpPr>
          <p:sp>
            <p:nvSpPr>
              <p:cNvPr id="276" name="Freeform 276"/>
              <p:cNvSpPr/>
              <p:nvPr/>
            </p:nvSpPr>
            <p:spPr>
              <a:xfrm>
                <a:off x="16891" y="16891"/>
                <a:ext cx="553516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5535168" h="170688">
                    <a:moveTo>
                      <a:pt x="0" y="0"/>
                    </a:moveTo>
                    <a:lnTo>
                      <a:pt x="5535168" y="0"/>
                    </a:lnTo>
                    <a:lnTo>
                      <a:pt x="553516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7" name="Freeform 277"/>
              <p:cNvSpPr/>
              <p:nvPr/>
            </p:nvSpPr>
            <p:spPr>
              <a:xfrm>
                <a:off x="0" y="0"/>
                <a:ext cx="556895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5568950" h="204472">
                    <a:moveTo>
                      <a:pt x="16891" y="0"/>
                    </a:moveTo>
                    <a:lnTo>
                      <a:pt x="5552059" y="0"/>
                    </a:lnTo>
                    <a:cubicBezTo>
                      <a:pt x="5561457" y="0"/>
                      <a:pt x="5568950" y="7620"/>
                      <a:pt x="5568950" y="16891"/>
                    </a:cubicBezTo>
                    <a:lnTo>
                      <a:pt x="5568950" y="187579"/>
                    </a:lnTo>
                    <a:cubicBezTo>
                      <a:pt x="5568950" y="196977"/>
                      <a:pt x="5561330" y="204470"/>
                      <a:pt x="555205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5552059" y="170688"/>
                    </a:lnTo>
                    <a:lnTo>
                      <a:pt x="5552059" y="187579"/>
                    </a:lnTo>
                    <a:lnTo>
                      <a:pt x="5535168" y="187579"/>
                    </a:lnTo>
                    <a:lnTo>
                      <a:pt x="5535168" y="16891"/>
                    </a:lnTo>
                    <a:lnTo>
                      <a:pt x="5552059" y="16891"/>
                    </a:lnTo>
                    <a:lnTo>
                      <a:pt x="555205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78" name="Group 278"/>
            <p:cNvGrpSpPr/>
            <p:nvPr/>
          </p:nvGrpSpPr>
          <p:grpSpPr>
            <a:xfrm>
              <a:off x="17656608" y="6419473"/>
              <a:ext cx="302976" cy="302976"/>
              <a:chOff x="0" y="0"/>
              <a:chExt cx="302095" cy="302095"/>
            </a:xfrm>
          </p:grpSpPr>
          <p:sp>
            <p:nvSpPr>
              <p:cNvPr id="279" name="Freeform 279"/>
              <p:cNvSpPr/>
              <p:nvPr/>
            </p:nvSpPr>
            <p:spPr>
              <a:xfrm>
                <a:off x="16891" y="16891"/>
                <a:ext cx="268224" cy="268224"/>
              </a:xfrm>
              <a:custGeom>
                <a:avLst/>
                <a:gdLst/>
                <a:ahLst/>
                <a:cxnLst/>
                <a:rect l="l" t="t" r="r" b="b"/>
                <a:pathLst>
                  <a:path w="268224" h="268224">
                    <a:moveTo>
                      <a:pt x="0" y="134112"/>
                    </a:moveTo>
                    <a:cubicBezTo>
                      <a:pt x="0" y="60071"/>
                      <a:pt x="60071" y="0"/>
                      <a:pt x="134112" y="0"/>
                    </a:cubicBezTo>
                    <a:cubicBezTo>
                      <a:pt x="208153" y="0"/>
                      <a:pt x="268224" y="60071"/>
                      <a:pt x="268224" y="134112"/>
                    </a:cubicBezTo>
                    <a:cubicBezTo>
                      <a:pt x="268224" y="208153"/>
                      <a:pt x="208280" y="268224"/>
                      <a:pt x="134112" y="268224"/>
                    </a:cubicBezTo>
                    <a:cubicBezTo>
                      <a:pt x="59944" y="268224"/>
                      <a:pt x="0" y="208280"/>
                      <a:pt x="0" y="134112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0" name="Freeform 280"/>
              <p:cNvSpPr/>
              <p:nvPr/>
            </p:nvSpPr>
            <p:spPr>
              <a:xfrm>
                <a:off x="0" y="0"/>
                <a:ext cx="302006" cy="302006"/>
              </a:xfrm>
              <a:custGeom>
                <a:avLst/>
                <a:gdLst/>
                <a:ahLst/>
                <a:cxnLst/>
                <a:rect l="l" t="t" r="r" b="b"/>
                <a:pathLst>
                  <a:path w="302006" h="302006">
                    <a:moveTo>
                      <a:pt x="0" y="151003"/>
                    </a:moveTo>
                    <a:cubicBezTo>
                      <a:pt x="0" y="67564"/>
                      <a:pt x="67564" y="0"/>
                      <a:pt x="151003" y="0"/>
                    </a:cubicBezTo>
                    <a:lnTo>
                      <a:pt x="151003" y="16891"/>
                    </a:lnTo>
                    <a:lnTo>
                      <a:pt x="151003" y="0"/>
                    </a:lnTo>
                    <a:cubicBezTo>
                      <a:pt x="234442" y="0"/>
                      <a:pt x="302006" y="67564"/>
                      <a:pt x="302006" y="151003"/>
                    </a:cubicBezTo>
                    <a:lnTo>
                      <a:pt x="285115" y="151003"/>
                    </a:lnTo>
                    <a:lnTo>
                      <a:pt x="302006" y="151003"/>
                    </a:lnTo>
                    <a:cubicBezTo>
                      <a:pt x="302006" y="234442"/>
                      <a:pt x="234442" y="302006"/>
                      <a:pt x="151003" y="302006"/>
                    </a:cubicBezTo>
                    <a:lnTo>
                      <a:pt x="151003" y="285115"/>
                    </a:lnTo>
                    <a:lnTo>
                      <a:pt x="151003" y="302006"/>
                    </a:lnTo>
                    <a:cubicBezTo>
                      <a:pt x="67564" y="302133"/>
                      <a:pt x="0" y="234442"/>
                      <a:pt x="0" y="151003"/>
                    </a:cubicBezTo>
                    <a:lnTo>
                      <a:pt x="16891" y="151003"/>
                    </a:lnTo>
                    <a:lnTo>
                      <a:pt x="33909" y="151003"/>
                    </a:lnTo>
                    <a:lnTo>
                      <a:pt x="16891" y="151003"/>
                    </a:lnTo>
                    <a:lnTo>
                      <a:pt x="0" y="151003"/>
                    </a:lnTo>
                    <a:moveTo>
                      <a:pt x="33909" y="151003"/>
                    </a:moveTo>
                    <a:cubicBezTo>
                      <a:pt x="33909" y="160401"/>
                      <a:pt x="26289" y="167894"/>
                      <a:pt x="17018" y="167894"/>
                    </a:cubicBezTo>
                    <a:cubicBezTo>
                      <a:pt x="7747" y="167894"/>
                      <a:pt x="0" y="160401"/>
                      <a:pt x="0" y="151003"/>
                    </a:cubicBezTo>
                    <a:cubicBezTo>
                      <a:pt x="0" y="141605"/>
                      <a:pt x="7620" y="134112"/>
                      <a:pt x="16891" y="134112"/>
                    </a:cubicBezTo>
                    <a:cubicBezTo>
                      <a:pt x="26162" y="134112"/>
                      <a:pt x="33782" y="141732"/>
                      <a:pt x="33782" y="151003"/>
                    </a:cubicBezTo>
                    <a:cubicBezTo>
                      <a:pt x="33782" y="215773"/>
                      <a:pt x="86233" y="268224"/>
                      <a:pt x="151003" y="268224"/>
                    </a:cubicBezTo>
                    <a:cubicBezTo>
                      <a:pt x="215773" y="268224"/>
                      <a:pt x="268224" y="215773"/>
                      <a:pt x="268224" y="151003"/>
                    </a:cubicBezTo>
                    <a:cubicBezTo>
                      <a:pt x="268224" y="86233"/>
                      <a:pt x="215773" y="33782"/>
                      <a:pt x="151003" y="33782"/>
                    </a:cubicBezTo>
                    <a:lnTo>
                      <a:pt x="151003" y="16891"/>
                    </a:lnTo>
                    <a:lnTo>
                      <a:pt x="151003" y="33909"/>
                    </a:lnTo>
                    <a:cubicBezTo>
                      <a:pt x="86233" y="33909"/>
                      <a:pt x="33782" y="86360"/>
                      <a:pt x="33782" y="15113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81" name="Group 281"/>
            <p:cNvGrpSpPr/>
            <p:nvPr/>
          </p:nvGrpSpPr>
          <p:grpSpPr>
            <a:xfrm>
              <a:off x="18064868" y="6228583"/>
              <a:ext cx="4670931" cy="684744"/>
              <a:chOff x="0" y="0"/>
              <a:chExt cx="4657344" cy="682752"/>
            </a:xfrm>
          </p:grpSpPr>
          <p:sp>
            <p:nvSpPr>
              <p:cNvPr id="282" name="Freeform 282"/>
              <p:cNvSpPr/>
              <p:nvPr/>
            </p:nvSpPr>
            <p:spPr>
              <a:xfrm>
                <a:off x="0" y="0"/>
                <a:ext cx="4657344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657344" h="682752">
                    <a:moveTo>
                      <a:pt x="0" y="0"/>
                    </a:moveTo>
                    <a:lnTo>
                      <a:pt x="4657344" y="0"/>
                    </a:lnTo>
                    <a:lnTo>
                      <a:pt x="4657344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2915" b="-82915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3" name="TextBox 283"/>
              <p:cNvSpPr txBox="1"/>
              <p:nvPr/>
            </p:nvSpPr>
            <p:spPr>
              <a:xfrm>
                <a:off x="0" y="-38100"/>
                <a:ext cx="4657344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0"/>
                  </a:lnSpc>
                </a:pPr>
                <a:r>
                  <a:rPr lang="en-US" sz="19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SALES &amp; PR</a:t>
                </a:r>
              </a:p>
            </p:txBody>
          </p:sp>
        </p:grpSp>
        <p:grpSp>
          <p:nvGrpSpPr>
            <p:cNvPr id="284" name="Group 284"/>
            <p:cNvGrpSpPr/>
            <p:nvPr/>
          </p:nvGrpSpPr>
          <p:grpSpPr>
            <a:xfrm>
              <a:off x="17665090" y="7100472"/>
              <a:ext cx="4883550" cy="16978"/>
              <a:chOff x="0" y="0"/>
              <a:chExt cx="4869345" cy="16929"/>
            </a:xfrm>
          </p:grpSpPr>
          <p:sp>
            <p:nvSpPr>
              <p:cNvPr id="285" name="Freeform 285"/>
              <p:cNvSpPr/>
              <p:nvPr/>
            </p:nvSpPr>
            <p:spPr>
              <a:xfrm>
                <a:off x="8509" y="0"/>
                <a:ext cx="4852416" cy="16891"/>
              </a:xfrm>
              <a:custGeom>
                <a:avLst/>
                <a:gdLst/>
                <a:ahLst/>
                <a:cxnLst/>
                <a:rect l="l" t="t" r="r" b="b"/>
                <a:pathLst>
                  <a:path w="4852416" h="16891">
                    <a:moveTo>
                      <a:pt x="0" y="0"/>
                    </a:moveTo>
                    <a:lnTo>
                      <a:pt x="4852416" y="0"/>
                    </a:lnTo>
                    <a:lnTo>
                      <a:pt x="4852416" y="16891"/>
                    </a:lnTo>
                    <a:lnTo>
                      <a:pt x="0" y="16891"/>
                    </a:lnTo>
                    <a:close/>
                  </a:path>
                </a:pathLst>
              </a:custGeom>
              <a:solidFill>
                <a:srgbClr val="1E2D45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86" name="Group 286"/>
            <p:cNvGrpSpPr/>
            <p:nvPr/>
          </p:nvGrpSpPr>
          <p:grpSpPr>
            <a:xfrm>
              <a:off x="17656608" y="7593319"/>
              <a:ext cx="205156" cy="205156"/>
              <a:chOff x="0" y="0"/>
              <a:chExt cx="204559" cy="204559"/>
            </a:xfrm>
          </p:grpSpPr>
          <p:sp>
            <p:nvSpPr>
              <p:cNvPr id="287" name="Freeform 287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8" name="Freeform 288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89" name="Group 289"/>
            <p:cNvGrpSpPr/>
            <p:nvPr/>
          </p:nvGrpSpPr>
          <p:grpSpPr>
            <a:xfrm>
              <a:off x="17991503" y="7280154"/>
              <a:ext cx="4719841" cy="831475"/>
              <a:chOff x="0" y="0"/>
              <a:chExt cx="4706112" cy="829056"/>
            </a:xfrm>
          </p:grpSpPr>
          <p:sp>
            <p:nvSpPr>
              <p:cNvPr id="290" name="Freeform 290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1" name="TextBox 291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Merchant target list + pre-event outreach</a:t>
                </a:r>
              </a:p>
            </p:txBody>
          </p:sp>
        </p:grpSp>
        <p:grpSp>
          <p:nvGrpSpPr>
            <p:cNvPr id="292" name="Group 292"/>
            <p:cNvGrpSpPr/>
            <p:nvPr/>
          </p:nvGrpSpPr>
          <p:grpSpPr>
            <a:xfrm>
              <a:off x="17656608" y="8424794"/>
              <a:ext cx="205156" cy="205156"/>
              <a:chOff x="0" y="0"/>
              <a:chExt cx="204559" cy="204559"/>
            </a:xfrm>
          </p:grpSpPr>
          <p:sp>
            <p:nvSpPr>
              <p:cNvPr id="293" name="Freeform 293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4" name="Freeform 294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295" name="Group 295"/>
            <p:cNvGrpSpPr/>
            <p:nvPr/>
          </p:nvGrpSpPr>
          <p:grpSpPr>
            <a:xfrm>
              <a:off x="17991503" y="8111628"/>
              <a:ext cx="4719841" cy="831475"/>
              <a:chOff x="0" y="0"/>
              <a:chExt cx="4706112" cy="829056"/>
            </a:xfrm>
          </p:grpSpPr>
          <p:sp>
            <p:nvSpPr>
              <p:cNvPr id="296" name="Freeform 296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7" name="TextBox 297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Execute meetings + same-day CRM logging</a:t>
                </a:r>
              </a:p>
            </p:txBody>
          </p:sp>
        </p:grpSp>
        <p:grpSp>
          <p:nvGrpSpPr>
            <p:cNvPr id="298" name="Group 298"/>
            <p:cNvGrpSpPr/>
            <p:nvPr/>
          </p:nvGrpSpPr>
          <p:grpSpPr>
            <a:xfrm>
              <a:off x="17656608" y="9256269"/>
              <a:ext cx="205156" cy="205156"/>
              <a:chOff x="0" y="0"/>
              <a:chExt cx="204559" cy="204559"/>
            </a:xfrm>
          </p:grpSpPr>
          <p:sp>
            <p:nvSpPr>
              <p:cNvPr id="299" name="Freeform 299"/>
              <p:cNvSpPr/>
              <p:nvPr/>
            </p:nvSpPr>
            <p:spPr>
              <a:xfrm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170688"/>
                    </a:lnTo>
                    <a:lnTo>
                      <a:pt x="0" y="17068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0" name="Freeform 300"/>
              <p:cNvSpPr/>
              <p:nvPr/>
            </p:nvSpPr>
            <p:spPr>
              <a:xfrm>
                <a:off x="0" y="0"/>
                <a:ext cx="204470" cy="20447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187579"/>
                    </a:lnTo>
                    <a:cubicBezTo>
                      <a:pt x="204470" y="196977"/>
                      <a:pt x="196850" y="204470"/>
                      <a:pt x="187579" y="204470"/>
                    </a:cubicBezTo>
                    <a:lnTo>
                      <a:pt x="16891" y="204470"/>
                    </a:lnTo>
                    <a:cubicBezTo>
                      <a:pt x="7620" y="204597"/>
                      <a:pt x="0" y="196977"/>
                      <a:pt x="0" y="1875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7579"/>
                    </a:lnTo>
                    <a:lnTo>
                      <a:pt x="16891" y="187579"/>
                    </a:lnTo>
                    <a:lnTo>
                      <a:pt x="16891" y="170688"/>
                    </a:lnTo>
                    <a:lnTo>
                      <a:pt x="187579" y="170688"/>
                    </a:lnTo>
                    <a:lnTo>
                      <a:pt x="187579" y="187579"/>
                    </a:lnTo>
                    <a:lnTo>
                      <a:pt x="170688" y="187579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301" name="Group 301"/>
            <p:cNvGrpSpPr/>
            <p:nvPr/>
          </p:nvGrpSpPr>
          <p:grpSpPr>
            <a:xfrm>
              <a:off x="17991503" y="8943103"/>
              <a:ext cx="4719841" cy="831475"/>
              <a:chOff x="0" y="0"/>
              <a:chExt cx="4706112" cy="829056"/>
            </a:xfrm>
          </p:grpSpPr>
          <p:sp>
            <p:nvSpPr>
              <p:cNvPr id="302" name="Freeform 302"/>
              <p:cNvSpPr/>
              <p:nvPr/>
            </p:nvSpPr>
            <p:spPr>
              <a:xfrm>
                <a:off x="0" y="0"/>
                <a:ext cx="4706112" cy="829056"/>
              </a:xfrm>
              <a:custGeom>
                <a:avLst/>
                <a:gdLst/>
                <a:ahLst/>
                <a:cxnLst/>
                <a:rect l="l" t="t" r="r" b="b"/>
                <a:pathLst>
                  <a:path w="4706112" h="829056">
                    <a:moveTo>
                      <a:pt x="0" y="0"/>
                    </a:moveTo>
                    <a:lnTo>
                      <a:pt x="4706112" y="0"/>
                    </a:lnTo>
                    <a:lnTo>
                      <a:pt x="4706112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606" b="-6060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3" name="TextBox 303"/>
              <p:cNvSpPr txBox="1"/>
              <p:nvPr/>
            </p:nvSpPr>
            <p:spPr>
              <a:xfrm>
                <a:off x="0" y="-38100"/>
                <a:ext cx="4706112" cy="8671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12"/>
                  </a:lnSpc>
                </a:pPr>
                <a:r>
                  <a:rPr lang="en-US" sz="176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Pipeline report + lead categorization → CMO</a:t>
                </a:r>
              </a:p>
            </p:txBody>
          </p:sp>
        </p:grpSp>
        <p:grpSp>
          <p:nvGrpSpPr>
            <p:cNvPr id="304" name="Group 304"/>
            <p:cNvGrpSpPr/>
            <p:nvPr/>
          </p:nvGrpSpPr>
          <p:grpSpPr>
            <a:xfrm>
              <a:off x="17614486" y="10522497"/>
              <a:ext cx="4984772" cy="705123"/>
              <a:chOff x="0" y="0"/>
              <a:chExt cx="4970272" cy="703072"/>
            </a:xfrm>
          </p:grpSpPr>
          <p:sp>
            <p:nvSpPr>
              <p:cNvPr id="305" name="Freeform 305"/>
              <p:cNvSpPr/>
              <p:nvPr/>
            </p:nvSpPr>
            <p:spPr>
              <a:xfrm>
                <a:off x="10160" y="1016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97536"/>
                    </a:moveTo>
                    <a:cubicBezTo>
                      <a:pt x="0" y="43688"/>
                      <a:pt x="44831" y="0"/>
                      <a:pt x="100076" y="0"/>
                    </a:cubicBezTo>
                    <a:lnTo>
                      <a:pt x="4849876" y="0"/>
                    </a:lnTo>
                    <a:cubicBezTo>
                      <a:pt x="4905121" y="0"/>
                      <a:pt x="4949952" y="43688"/>
                      <a:pt x="4949952" y="97536"/>
                    </a:cubicBezTo>
                    <a:lnTo>
                      <a:pt x="4949952" y="585216"/>
                    </a:lnTo>
                    <a:cubicBezTo>
                      <a:pt x="4949952" y="639064"/>
                      <a:pt x="4905121" y="682752"/>
                      <a:pt x="4849876" y="682752"/>
                    </a:cubicBezTo>
                    <a:lnTo>
                      <a:pt x="100076" y="682752"/>
                    </a:lnTo>
                    <a:cubicBezTo>
                      <a:pt x="44831" y="682752"/>
                      <a:pt x="0" y="639064"/>
                      <a:pt x="0" y="585216"/>
                    </a:cubicBezTo>
                    <a:close/>
                  </a:path>
                </a:pathLst>
              </a:custGeom>
              <a:solidFill>
                <a:srgbClr val="0F0A00"/>
              </a:solid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6" name="Freeform 306"/>
              <p:cNvSpPr/>
              <p:nvPr/>
            </p:nvSpPr>
            <p:spPr>
              <a:xfrm>
                <a:off x="0" y="0"/>
                <a:ext cx="4970272" cy="703072"/>
              </a:xfrm>
              <a:custGeom>
                <a:avLst/>
                <a:gdLst/>
                <a:ahLst/>
                <a:cxnLst/>
                <a:rect l="l" t="t" r="r" b="b"/>
                <a:pathLst>
                  <a:path w="4970272" h="703072">
                    <a:moveTo>
                      <a:pt x="0" y="107696"/>
                    </a:moveTo>
                    <a:cubicBezTo>
                      <a:pt x="0" y="48006"/>
                      <a:pt x="49530" y="0"/>
                      <a:pt x="110236" y="0"/>
                    </a:cubicBezTo>
                    <a:lnTo>
                      <a:pt x="4860036" y="0"/>
                    </a:lnTo>
                    <a:lnTo>
                      <a:pt x="4860036" y="10160"/>
                    </a:lnTo>
                    <a:lnTo>
                      <a:pt x="4860036" y="0"/>
                    </a:lnTo>
                    <a:cubicBezTo>
                      <a:pt x="4920615" y="0"/>
                      <a:pt x="4970272" y="48006"/>
                      <a:pt x="4970272" y="107696"/>
                    </a:cubicBezTo>
                    <a:lnTo>
                      <a:pt x="4960112" y="107696"/>
                    </a:lnTo>
                    <a:lnTo>
                      <a:pt x="4970272" y="107696"/>
                    </a:lnTo>
                    <a:lnTo>
                      <a:pt x="4970272" y="595376"/>
                    </a:lnTo>
                    <a:lnTo>
                      <a:pt x="4960112" y="595376"/>
                    </a:lnTo>
                    <a:lnTo>
                      <a:pt x="4970272" y="595376"/>
                    </a:lnTo>
                    <a:cubicBezTo>
                      <a:pt x="4970272" y="655066"/>
                      <a:pt x="4920742" y="703072"/>
                      <a:pt x="4860036" y="703072"/>
                    </a:cubicBezTo>
                    <a:lnTo>
                      <a:pt x="4860036" y="692912"/>
                    </a:lnTo>
                    <a:lnTo>
                      <a:pt x="4860036" y="703072"/>
                    </a:lnTo>
                    <a:lnTo>
                      <a:pt x="110236" y="703072"/>
                    </a:lnTo>
                    <a:lnTo>
                      <a:pt x="110236" y="692912"/>
                    </a:lnTo>
                    <a:lnTo>
                      <a:pt x="110236" y="703072"/>
                    </a:lnTo>
                    <a:cubicBezTo>
                      <a:pt x="49530" y="703072"/>
                      <a:pt x="0" y="655066"/>
                      <a:pt x="0" y="595376"/>
                    </a:cubicBezTo>
                    <a:lnTo>
                      <a:pt x="0" y="107696"/>
                    </a:lnTo>
                    <a:lnTo>
                      <a:pt x="10160" y="107696"/>
                    </a:lnTo>
                    <a:lnTo>
                      <a:pt x="0" y="107696"/>
                    </a:lnTo>
                    <a:moveTo>
                      <a:pt x="20320" y="107696"/>
                    </a:moveTo>
                    <a:lnTo>
                      <a:pt x="20320" y="595376"/>
                    </a:lnTo>
                    <a:lnTo>
                      <a:pt x="10160" y="595376"/>
                    </a:lnTo>
                    <a:lnTo>
                      <a:pt x="20320" y="595376"/>
                    </a:lnTo>
                    <a:cubicBezTo>
                      <a:pt x="20320" y="643382"/>
                      <a:pt x="60325" y="682752"/>
                      <a:pt x="110236" y="682752"/>
                    </a:cubicBezTo>
                    <a:lnTo>
                      <a:pt x="4860036" y="682752"/>
                    </a:lnTo>
                    <a:cubicBezTo>
                      <a:pt x="4909947" y="682752"/>
                      <a:pt x="4949952" y="643382"/>
                      <a:pt x="4949952" y="595376"/>
                    </a:cubicBezTo>
                    <a:lnTo>
                      <a:pt x="4949952" y="107696"/>
                    </a:lnTo>
                    <a:cubicBezTo>
                      <a:pt x="4949952" y="59690"/>
                      <a:pt x="4909947" y="20320"/>
                      <a:pt x="4860036" y="20320"/>
                    </a:cubicBezTo>
                    <a:lnTo>
                      <a:pt x="110236" y="20320"/>
                    </a:lnTo>
                    <a:lnTo>
                      <a:pt x="110236" y="10160"/>
                    </a:lnTo>
                    <a:lnTo>
                      <a:pt x="110236" y="20320"/>
                    </a:lnTo>
                    <a:cubicBezTo>
                      <a:pt x="60325" y="20320"/>
                      <a:pt x="20320" y="59690"/>
                      <a:pt x="20320" y="107696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307" name="Group 307"/>
            <p:cNvGrpSpPr/>
            <p:nvPr/>
          </p:nvGrpSpPr>
          <p:grpSpPr>
            <a:xfrm>
              <a:off x="17624676" y="10532687"/>
              <a:ext cx="4964392" cy="684744"/>
              <a:chOff x="0" y="0"/>
              <a:chExt cx="4949952" cy="682752"/>
            </a:xfrm>
          </p:grpSpPr>
          <p:sp>
            <p:nvSpPr>
              <p:cNvPr id="308" name="Freeform 308"/>
              <p:cNvSpPr/>
              <p:nvPr/>
            </p:nvSpPr>
            <p:spPr>
              <a:xfrm>
                <a:off x="0" y="0"/>
                <a:ext cx="49499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4949952" h="682752">
                    <a:moveTo>
                      <a:pt x="0" y="0"/>
                    </a:moveTo>
                    <a:lnTo>
                      <a:pt x="4949952" y="0"/>
                    </a:lnTo>
                    <a:lnTo>
                      <a:pt x="49499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1266" b="-91266"/>
                </a:stretch>
              </a:blipFill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9" name="TextBox 309"/>
              <p:cNvSpPr txBox="1"/>
              <p:nvPr/>
            </p:nvSpPr>
            <p:spPr>
              <a:xfrm>
                <a:off x="0" y="-28575"/>
                <a:ext cx="4949952" cy="7113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67"/>
                  </a:lnSpc>
                </a:pPr>
                <a:r>
                  <a:rPr lang="en-US" sz="1639" b="1">
                    <a:solidFill>
                      <a:srgbClr val="F5A62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Pipeline report: P1</a:t>
                </a:r>
              </a:p>
            </p:txBody>
          </p:sp>
        </p:grpSp>
      </p:grpSp>
      <p:sp>
        <p:nvSpPr>
          <p:cNvPr id="310" name="Freeform 310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11" name="Freeform 311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12" name="Freeform 312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13" name="TextBox 313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443" b="1" spc="-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2623" y="990600"/>
            <a:ext cx="12801600" cy="925144"/>
            <a:chOff x="0" y="0"/>
            <a:chExt cx="17068800" cy="1233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68800" cy="1233525"/>
            </a:xfrm>
            <a:custGeom>
              <a:avLst/>
              <a:gdLst/>
              <a:ahLst/>
              <a:cxnLst/>
              <a:rect l="l" t="t" r="r" b="b"/>
              <a:pathLst>
                <a:path w="17068800" h="1233525">
                  <a:moveTo>
                    <a:pt x="0" y="0"/>
                  </a:moveTo>
                  <a:lnTo>
                    <a:pt x="17068800" y="0"/>
                  </a:lnTo>
                  <a:lnTo>
                    <a:pt x="17068800" y="1233525"/>
                  </a:lnTo>
                  <a:lnTo>
                    <a:pt x="0" y="12335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005" b="-20223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068800" cy="124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F5F7F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E2E PROJECT TIMELINES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90518" y="1990894"/>
            <a:ext cx="10669019" cy="391163"/>
            <a:chOff x="0" y="0"/>
            <a:chExt cx="14225359" cy="52155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191488" cy="487680"/>
            </a:xfrm>
            <a:custGeom>
              <a:avLst/>
              <a:gdLst/>
              <a:ahLst/>
              <a:cxnLst/>
              <a:rect l="l" t="t" r="r" b="b"/>
              <a:pathLst>
                <a:path w="14191488" h="487680">
                  <a:moveTo>
                    <a:pt x="0" y="0"/>
                  </a:moveTo>
                  <a:lnTo>
                    <a:pt x="14191488" y="0"/>
                  </a:lnTo>
                  <a:lnTo>
                    <a:pt x="1419148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007A4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4225270" cy="521464"/>
            </a:xfrm>
            <a:custGeom>
              <a:avLst/>
              <a:gdLst/>
              <a:ahLst/>
              <a:cxnLst/>
              <a:rect l="l" t="t" r="r" b="b"/>
              <a:pathLst>
                <a:path w="14225270" h="521464">
                  <a:moveTo>
                    <a:pt x="16891" y="0"/>
                  </a:moveTo>
                  <a:lnTo>
                    <a:pt x="14208379" y="0"/>
                  </a:lnTo>
                  <a:cubicBezTo>
                    <a:pt x="14217777" y="0"/>
                    <a:pt x="14225270" y="7620"/>
                    <a:pt x="14225270" y="16891"/>
                  </a:cubicBezTo>
                  <a:lnTo>
                    <a:pt x="14225270" y="504571"/>
                  </a:lnTo>
                  <a:cubicBezTo>
                    <a:pt x="14225270" y="513969"/>
                    <a:pt x="14217650" y="521462"/>
                    <a:pt x="1420837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4208379" y="487680"/>
                  </a:lnTo>
                  <a:lnTo>
                    <a:pt x="14208379" y="504571"/>
                  </a:lnTo>
                  <a:lnTo>
                    <a:pt x="14191489" y="504571"/>
                  </a:lnTo>
                  <a:lnTo>
                    <a:pt x="14191489" y="16891"/>
                  </a:lnTo>
                  <a:lnTo>
                    <a:pt x="14208379" y="16891"/>
                  </a:lnTo>
                  <a:lnTo>
                    <a:pt x="14208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A4D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03215" y="2003591"/>
            <a:ext cx="10643616" cy="365760"/>
            <a:chOff x="0" y="0"/>
            <a:chExt cx="14191488" cy="487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91489" cy="487680"/>
            </a:xfrm>
            <a:custGeom>
              <a:avLst/>
              <a:gdLst/>
              <a:ahLst/>
              <a:cxnLst/>
              <a:rect l="l" t="t" r="r" b="b"/>
              <a:pathLst>
                <a:path w="14191489" h="487680">
                  <a:moveTo>
                    <a:pt x="0" y="0"/>
                  </a:moveTo>
                  <a:lnTo>
                    <a:pt x="14191489" y="0"/>
                  </a:lnTo>
                  <a:lnTo>
                    <a:pt x="1419148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7014" b="-51701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191488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PRE-EVENT (12 WEEKS)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34134" y="1990894"/>
            <a:ext cx="2686307" cy="391163"/>
            <a:chOff x="0" y="0"/>
            <a:chExt cx="3581743" cy="52155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3547872" cy="487680"/>
            </a:xfrm>
            <a:custGeom>
              <a:avLst/>
              <a:gdLst/>
              <a:ahLst/>
              <a:cxnLst/>
              <a:rect l="l" t="t" r="r" b="b"/>
              <a:pathLst>
                <a:path w="3547872" h="487680">
                  <a:moveTo>
                    <a:pt x="0" y="0"/>
                  </a:moveTo>
                  <a:lnTo>
                    <a:pt x="3547872" y="0"/>
                  </a:lnTo>
                  <a:lnTo>
                    <a:pt x="35478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3581654" cy="521464"/>
            </a:xfrm>
            <a:custGeom>
              <a:avLst/>
              <a:gdLst/>
              <a:ahLst/>
              <a:cxnLst/>
              <a:rect l="l" t="t" r="r" b="b"/>
              <a:pathLst>
                <a:path w="3581654" h="521464">
                  <a:moveTo>
                    <a:pt x="16891" y="0"/>
                  </a:moveTo>
                  <a:lnTo>
                    <a:pt x="3564763" y="0"/>
                  </a:lnTo>
                  <a:cubicBezTo>
                    <a:pt x="3574161" y="0"/>
                    <a:pt x="3581654" y="7620"/>
                    <a:pt x="3581654" y="16891"/>
                  </a:cubicBezTo>
                  <a:lnTo>
                    <a:pt x="3581654" y="504571"/>
                  </a:lnTo>
                  <a:cubicBezTo>
                    <a:pt x="3581654" y="513969"/>
                    <a:pt x="3574034" y="521462"/>
                    <a:pt x="3564763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564763" y="487680"/>
                  </a:lnTo>
                  <a:lnTo>
                    <a:pt x="3564763" y="504571"/>
                  </a:lnTo>
                  <a:lnTo>
                    <a:pt x="3547872" y="504571"/>
                  </a:lnTo>
                  <a:lnTo>
                    <a:pt x="3547872" y="16891"/>
                  </a:lnTo>
                  <a:lnTo>
                    <a:pt x="3564763" y="16891"/>
                  </a:lnTo>
                  <a:lnTo>
                    <a:pt x="356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46831" y="2003591"/>
            <a:ext cx="2660904" cy="365760"/>
            <a:chOff x="0" y="0"/>
            <a:chExt cx="3547872" cy="487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47872" cy="487680"/>
            </a:xfrm>
            <a:custGeom>
              <a:avLst/>
              <a:gdLst/>
              <a:ahLst/>
              <a:cxnLst/>
              <a:rect l="l" t="t" r="r" b="b"/>
              <a:pathLst>
                <a:path w="3547872" h="487680">
                  <a:moveTo>
                    <a:pt x="0" y="0"/>
                  </a:moveTo>
                  <a:lnTo>
                    <a:pt x="3547872" y="0"/>
                  </a:lnTo>
                  <a:lnTo>
                    <a:pt x="3547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53" b="-917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547872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IN-EVENT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95038" y="1990894"/>
            <a:ext cx="1799339" cy="391163"/>
            <a:chOff x="0" y="0"/>
            <a:chExt cx="2399119" cy="52155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2365248" cy="487680"/>
            </a:xfrm>
            <a:custGeom>
              <a:avLst/>
              <a:gdLst/>
              <a:ahLst/>
              <a:cxnLst/>
              <a:rect l="l" t="t" r="r" b="b"/>
              <a:pathLst>
                <a:path w="2365248" h="487680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2399030" cy="521464"/>
            </a:xfrm>
            <a:custGeom>
              <a:avLst/>
              <a:gdLst/>
              <a:ahLst/>
              <a:cxnLst/>
              <a:rect l="l" t="t" r="r" b="b"/>
              <a:pathLst>
                <a:path w="2399030" h="521464">
                  <a:moveTo>
                    <a:pt x="16891" y="0"/>
                  </a:moveTo>
                  <a:lnTo>
                    <a:pt x="2382139" y="0"/>
                  </a:lnTo>
                  <a:cubicBezTo>
                    <a:pt x="2391537" y="0"/>
                    <a:pt x="2399030" y="7620"/>
                    <a:pt x="2399030" y="16891"/>
                  </a:cubicBezTo>
                  <a:lnTo>
                    <a:pt x="2399030" y="504571"/>
                  </a:lnTo>
                  <a:cubicBezTo>
                    <a:pt x="2399030" y="513969"/>
                    <a:pt x="2391410" y="521462"/>
                    <a:pt x="238213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382139" y="487680"/>
                  </a:lnTo>
                  <a:lnTo>
                    <a:pt x="2382139" y="504571"/>
                  </a:lnTo>
                  <a:lnTo>
                    <a:pt x="2365248" y="504571"/>
                  </a:lnTo>
                  <a:lnTo>
                    <a:pt x="2365248" y="16891"/>
                  </a:lnTo>
                  <a:lnTo>
                    <a:pt x="2382139" y="16891"/>
                  </a:lnTo>
                  <a:lnTo>
                    <a:pt x="2382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207735" y="2003591"/>
            <a:ext cx="1773936" cy="365760"/>
            <a:chOff x="0" y="0"/>
            <a:chExt cx="2365248" cy="4876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65248" cy="487680"/>
            </a:xfrm>
            <a:custGeom>
              <a:avLst/>
              <a:gdLst/>
              <a:ahLst/>
              <a:cxnLst/>
              <a:rect l="l" t="t" r="r" b="b"/>
              <a:pathLst>
                <a:path w="2365248" h="487680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502" b="-4450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365248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99405" y="2365541"/>
            <a:ext cx="894588" cy="373380"/>
            <a:chOff x="0" y="0"/>
            <a:chExt cx="1192784" cy="497840"/>
          </a:xfrm>
        </p:grpSpPr>
        <p:sp>
          <p:nvSpPr>
            <p:cNvPr id="24" name="Freeform 24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03215" y="2369351"/>
            <a:ext cx="886968" cy="365760"/>
            <a:chOff x="0" y="0"/>
            <a:chExt cx="1182624" cy="4876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W12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86373" y="2365541"/>
            <a:ext cx="894588" cy="373380"/>
            <a:chOff x="0" y="0"/>
            <a:chExt cx="1192784" cy="497840"/>
          </a:xfrm>
        </p:grpSpPr>
        <p:sp>
          <p:nvSpPr>
            <p:cNvPr id="30" name="Freeform 30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90183" y="2369351"/>
            <a:ext cx="886968" cy="365760"/>
            <a:chOff x="0" y="0"/>
            <a:chExt cx="1182624" cy="4876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W11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73341" y="2365541"/>
            <a:ext cx="894588" cy="373380"/>
            <a:chOff x="0" y="0"/>
            <a:chExt cx="1192784" cy="497840"/>
          </a:xfrm>
        </p:grpSpPr>
        <p:sp>
          <p:nvSpPr>
            <p:cNvPr id="36" name="Freeform 36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677151" y="2369351"/>
            <a:ext cx="886968" cy="365760"/>
            <a:chOff x="0" y="0"/>
            <a:chExt cx="1182624" cy="4876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W10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60309" y="2365541"/>
            <a:ext cx="894588" cy="373380"/>
            <a:chOff x="0" y="0"/>
            <a:chExt cx="1192784" cy="497840"/>
          </a:xfrm>
        </p:grpSpPr>
        <p:sp>
          <p:nvSpPr>
            <p:cNvPr id="42" name="Freeform 42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64119" y="2369351"/>
            <a:ext cx="886968" cy="365760"/>
            <a:chOff x="0" y="0"/>
            <a:chExt cx="1182624" cy="4876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W9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47277" y="2365541"/>
            <a:ext cx="894588" cy="373380"/>
            <a:chOff x="0" y="0"/>
            <a:chExt cx="1192784" cy="497840"/>
          </a:xfrm>
        </p:grpSpPr>
        <p:sp>
          <p:nvSpPr>
            <p:cNvPr id="48" name="Freeform 48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451087" y="2369351"/>
            <a:ext cx="886968" cy="365760"/>
            <a:chOff x="0" y="0"/>
            <a:chExt cx="1182624" cy="4876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W8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334245" y="2365541"/>
            <a:ext cx="894588" cy="373380"/>
            <a:chOff x="0" y="0"/>
            <a:chExt cx="1192784" cy="497840"/>
          </a:xfrm>
        </p:grpSpPr>
        <p:sp>
          <p:nvSpPr>
            <p:cNvPr id="54" name="Freeform 54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338055" y="2369351"/>
            <a:ext cx="886968" cy="365760"/>
            <a:chOff x="0" y="0"/>
            <a:chExt cx="1182624" cy="4876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W7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21213" y="2365541"/>
            <a:ext cx="894588" cy="373380"/>
            <a:chOff x="0" y="0"/>
            <a:chExt cx="1192784" cy="497840"/>
          </a:xfrm>
        </p:grpSpPr>
        <p:sp>
          <p:nvSpPr>
            <p:cNvPr id="60" name="Freeform 60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225023" y="2369351"/>
            <a:ext cx="886968" cy="365760"/>
            <a:chOff x="0" y="0"/>
            <a:chExt cx="1182624" cy="4876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W6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108181" y="2365541"/>
            <a:ext cx="894588" cy="373380"/>
            <a:chOff x="0" y="0"/>
            <a:chExt cx="1192784" cy="497840"/>
          </a:xfrm>
        </p:grpSpPr>
        <p:sp>
          <p:nvSpPr>
            <p:cNvPr id="66" name="Freeform 66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111991" y="2369351"/>
            <a:ext cx="886968" cy="365760"/>
            <a:chOff x="0" y="0"/>
            <a:chExt cx="1182624" cy="4876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W5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995149" y="2365541"/>
            <a:ext cx="894588" cy="373380"/>
            <a:chOff x="0" y="0"/>
            <a:chExt cx="1192784" cy="497840"/>
          </a:xfrm>
        </p:grpSpPr>
        <p:sp>
          <p:nvSpPr>
            <p:cNvPr id="72" name="Freeform 72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998959" y="2369351"/>
            <a:ext cx="886968" cy="365760"/>
            <a:chOff x="0" y="0"/>
            <a:chExt cx="1182624" cy="4876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W4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882117" y="2365541"/>
            <a:ext cx="894588" cy="373380"/>
            <a:chOff x="0" y="0"/>
            <a:chExt cx="1192784" cy="497840"/>
          </a:xfrm>
        </p:grpSpPr>
        <p:sp>
          <p:nvSpPr>
            <p:cNvPr id="78" name="Freeform 78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79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885927" y="2369351"/>
            <a:ext cx="886968" cy="365760"/>
            <a:chOff x="0" y="0"/>
            <a:chExt cx="1182624" cy="4876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W3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1769085" y="2365541"/>
            <a:ext cx="894588" cy="373380"/>
            <a:chOff x="0" y="0"/>
            <a:chExt cx="1192784" cy="497840"/>
          </a:xfrm>
        </p:grpSpPr>
        <p:sp>
          <p:nvSpPr>
            <p:cNvPr id="84" name="Freeform 84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85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1772895" y="2369351"/>
            <a:ext cx="886968" cy="365760"/>
            <a:chOff x="0" y="0"/>
            <a:chExt cx="1182624" cy="48768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W2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656053" y="2365541"/>
            <a:ext cx="894588" cy="373380"/>
            <a:chOff x="0" y="0"/>
            <a:chExt cx="1192784" cy="497840"/>
          </a:xfrm>
        </p:grpSpPr>
        <p:sp>
          <p:nvSpPr>
            <p:cNvPr id="90" name="Freeform 90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659863" y="2369351"/>
            <a:ext cx="886968" cy="365760"/>
            <a:chOff x="0" y="0"/>
            <a:chExt cx="1182624" cy="48768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W1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3543021" y="2365541"/>
            <a:ext cx="894588" cy="373380"/>
            <a:chOff x="0" y="0"/>
            <a:chExt cx="1192784" cy="497840"/>
          </a:xfrm>
        </p:grpSpPr>
        <p:sp>
          <p:nvSpPr>
            <p:cNvPr id="96" name="Freeform 96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97" name="Freeform 97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546831" y="2369351"/>
            <a:ext cx="886968" cy="365760"/>
            <a:chOff x="0" y="0"/>
            <a:chExt cx="1182624" cy="48768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D1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4429989" y="2365541"/>
            <a:ext cx="894588" cy="373380"/>
            <a:chOff x="0" y="0"/>
            <a:chExt cx="1192784" cy="497840"/>
          </a:xfrm>
        </p:grpSpPr>
        <p:sp>
          <p:nvSpPr>
            <p:cNvPr id="102" name="Freeform 102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03" name="Freeform 103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4433799" y="2369351"/>
            <a:ext cx="886968" cy="365760"/>
            <a:chOff x="0" y="0"/>
            <a:chExt cx="1182624" cy="48768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D2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5316957" y="2365541"/>
            <a:ext cx="894588" cy="373380"/>
            <a:chOff x="0" y="0"/>
            <a:chExt cx="1192784" cy="497840"/>
          </a:xfrm>
        </p:grpSpPr>
        <p:sp>
          <p:nvSpPr>
            <p:cNvPr id="108" name="Freeform 108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09" name="Freeform 109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5320767" y="2369351"/>
            <a:ext cx="886968" cy="365760"/>
            <a:chOff x="0" y="0"/>
            <a:chExt cx="1182624" cy="48768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D3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6203925" y="2365541"/>
            <a:ext cx="894588" cy="373380"/>
            <a:chOff x="0" y="0"/>
            <a:chExt cx="1192784" cy="497840"/>
          </a:xfrm>
        </p:grpSpPr>
        <p:sp>
          <p:nvSpPr>
            <p:cNvPr id="114" name="Freeform 114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15" name="Freeform 115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6207735" y="2369351"/>
            <a:ext cx="886968" cy="365760"/>
            <a:chOff x="0" y="0"/>
            <a:chExt cx="1182624" cy="48768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P1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7090893" y="2365541"/>
            <a:ext cx="894588" cy="373380"/>
            <a:chOff x="0" y="0"/>
            <a:chExt cx="1192784" cy="497840"/>
          </a:xfrm>
        </p:grpSpPr>
        <p:sp>
          <p:nvSpPr>
            <p:cNvPr id="120" name="Freeform 120"/>
            <p:cNvSpPr/>
            <p:nvPr/>
          </p:nvSpPr>
          <p:spPr>
            <a:xfrm>
              <a:off x="5080" y="508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0" y="0"/>
              <a:ext cx="1192784" cy="497840"/>
            </a:xfrm>
            <a:custGeom>
              <a:avLst/>
              <a:gdLst/>
              <a:ahLst/>
              <a:cxnLst/>
              <a:rect l="l" t="t" r="r" b="b"/>
              <a:pathLst>
                <a:path w="1192784" h="497840">
                  <a:moveTo>
                    <a:pt x="5080" y="0"/>
                  </a:moveTo>
                  <a:lnTo>
                    <a:pt x="1187704" y="0"/>
                  </a:lnTo>
                  <a:cubicBezTo>
                    <a:pt x="1190498" y="0"/>
                    <a:pt x="1192784" y="2286"/>
                    <a:pt x="1192784" y="5080"/>
                  </a:cubicBezTo>
                  <a:lnTo>
                    <a:pt x="1192784" y="492760"/>
                  </a:lnTo>
                  <a:cubicBezTo>
                    <a:pt x="1192784" y="495554"/>
                    <a:pt x="1190498" y="497840"/>
                    <a:pt x="1187704" y="497840"/>
                  </a:cubicBezTo>
                  <a:lnTo>
                    <a:pt x="5080" y="497840"/>
                  </a:lnTo>
                  <a:cubicBezTo>
                    <a:pt x="2286" y="497840"/>
                    <a:pt x="0" y="495554"/>
                    <a:pt x="0" y="492760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492760"/>
                  </a:lnTo>
                  <a:lnTo>
                    <a:pt x="5080" y="492760"/>
                  </a:lnTo>
                  <a:lnTo>
                    <a:pt x="5080" y="487680"/>
                  </a:lnTo>
                  <a:lnTo>
                    <a:pt x="1187704" y="487680"/>
                  </a:lnTo>
                  <a:lnTo>
                    <a:pt x="1187704" y="492760"/>
                  </a:lnTo>
                  <a:lnTo>
                    <a:pt x="1182624" y="492760"/>
                  </a:lnTo>
                  <a:lnTo>
                    <a:pt x="1182624" y="5080"/>
                  </a:lnTo>
                  <a:lnTo>
                    <a:pt x="1187704" y="5080"/>
                  </a:lnTo>
                  <a:lnTo>
                    <a:pt x="1187704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7094703" y="2369351"/>
            <a:ext cx="886968" cy="365760"/>
            <a:chOff x="0" y="0"/>
            <a:chExt cx="1182624" cy="48768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182624" cy="487680"/>
            </a:xfrm>
            <a:custGeom>
              <a:avLst/>
              <a:gdLst/>
              <a:ahLst/>
              <a:cxnLst/>
              <a:rect l="l" t="t" r="r" b="b"/>
              <a:pathLst>
                <a:path w="1182624" h="487680">
                  <a:moveTo>
                    <a:pt x="0" y="0"/>
                  </a:moveTo>
                  <a:lnTo>
                    <a:pt x="1182624" y="0"/>
                  </a:lnTo>
                  <a:lnTo>
                    <a:pt x="11826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8" r="-290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0" y="-28575"/>
              <a:ext cx="1182624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P2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2900672" y="2732568"/>
            <a:ext cx="15083533" cy="754885"/>
            <a:chOff x="0" y="0"/>
            <a:chExt cx="20111377" cy="1006513"/>
          </a:xfrm>
        </p:grpSpPr>
        <p:sp>
          <p:nvSpPr>
            <p:cNvPr id="126" name="Freeform 126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303776" y="2732568"/>
            <a:ext cx="2528821" cy="754885"/>
            <a:chOff x="0" y="0"/>
            <a:chExt cx="3371761" cy="1006513"/>
          </a:xfrm>
        </p:grpSpPr>
        <p:sp>
          <p:nvSpPr>
            <p:cNvPr id="129" name="Freeform 129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130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293622" y="2722414"/>
            <a:ext cx="116843" cy="775211"/>
            <a:chOff x="0" y="0"/>
            <a:chExt cx="155791" cy="1033615"/>
          </a:xfrm>
        </p:grpSpPr>
        <p:sp>
          <p:nvSpPr>
            <p:cNvPr id="132" name="Freeform 132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33" name="Freeform 133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452623" y="2735111"/>
            <a:ext cx="2340864" cy="749808"/>
            <a:chOff x="0" y="0"/>
            <a:chExt cx="3121152" cy="999744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CEO Office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2900672" y="3482376"/>
            <a:ext cx="15083533" cy="754885"/>
            <a:chOff x="0" y="0"/>
            <a:chExt cx="20111377" cy="1006513"/>
          </a:xfrm>
        </p:grpSpPr>
        <p:sp>
          <p:nvSpPr>
            <p:cNvPr id="138" name="Freeform 138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303776" y="3482376"/>
            <a:ext cx="2528821" cy="754885"/>
            <a:chOff x="0" y="0"/>
            <a:chExt cx="3371761" cy="1006513"/>
          </a:xfrm>
        </p:grpSpPr>
        <p:sp>
          <p:nvSpPr>
            <p:cNvPr id="141" name="Freeform 141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293622" y="3472222"/>
            <a:ext cx="116843" cy="775211"/>
            <a:chOff x="0" y="0"/>
            <a:chExt cx="155791" cy="1033615"/>
          </a:xfrm>
        </p:grpSpPr>
        <p:sp>
          <p:nvSpPr>
            <p:cNvPr id="144" name="Freeform 144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145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452623" y="3484919"/>
            <a:ext cx="2340864" cy="749808"/>
            <a:chOff x="0" y="0"/>
            <a:chExt cx="3121152" cy="999744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&amp; PR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2900672" y="4232184"/>
            <a:ext cx="15083533" cy="754885"/>
            <a:chOff x="0" y="0"/>
            <a:chExt cx="20111377" cy="1006513"/>
          </a:xfrm>
        </p:grpSpPr>
        <p:sp>
          <p:nvSpPr>
            <p:cNvPr id="150" name="Freeform 150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51" name="Freeform 151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303776" y="4232184"/>
            <a:ext cx="2528821" cy="754885"/>
            <a:chOff x="0" y="0"/>
            <a:chExt cx="3371761" cy="1006513"/>
          </a:xfrm>
        </p:grpSpPr>
        <p:sp>
          <p:nvSpPr>
            <p:cNvPr id="153" name="Freeform 153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293622" y="4222030"/>
            <a:ext cx="116843" cy="775211"/>
            <a:chOff x="0" y="0"/>
            <a:chExt cx="155791" cy="1033615"/>
          </a:xfrm>
        </p:grpSpPr>
        <p:sp>
          <p:nvSpPr>
            <p:cNvPr id="156" name="Freeform 156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57" name="Freeform 157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452623" y="4234727"/>
            <a:ext cx="2340864" cy="749808"/>
            <a:chOff x="0" y="0"/>
            <a:chExt cx="3121152" cy="999744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00C4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&amp; Brand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2900672" y="4981992"/>
            <a:ext cx="15083533" cy="754885"/>
            <a:chOff x="0" y="0"/>
            <a:chExt cx="20111377" cy="1006513"/>
          </a:xfrm>
        </p:grpSpPr>
        <p:sp>
          <p:nvSpPr>
            <p:cNvPr id="162" name="Freeform 162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63" name="Freeform 163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303776" y="4981992"/>
            <a:ext cx="2528821" cy="754885"/>
            <a:chOff x="0" y="0"/>
            <a:chExt cx="3371761" cy="1006513"/>
          </a:xfrm>
        </p:grpSpPr>
        <p:sp>
          <p:nvSpPr>
            <p:cNvPr id="165" name="Freeform 165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66" name="Freeform 166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293622" y="4971838"/>
            <a:ext cx="116843" cy="775211"/>
            <a:chOff x="0" y="0"/>
            <a:chExt cx="155791" cy="1033615"/>
          </a:xfrm>
        </p:grpSpPr>
        <p:sp>
          <p:nvSpPr>
            <p:cNvPr id="168" name="Freeform 168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69" name="Freeform 169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452623" y="4984535"/>
            <a:ext cx="2340864" cy="749808"/>
            <a:chOff x="0" y="0"/>
            <a:chExt cx="3121152" cy="999744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Legal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2900672" y="5731800"/>
            <a:ext cx="15083533" cy="754885"/>
            <a:chOff x="0" y="0"/>
            <a:chExt cx="20111377" cy="1006513"/>
          </a:xfrm>
        </p:grpSpPr>
        <p:sp>
          <p:nvSpPr>
            <p:cNvPr id="174" name="Freeform 174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75" name="Freeform 175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303776" y="5731800"/>
            <a:ext cx="2528821" cy="754885"/>
            <a:chOff x="0" y="0"/>
            <a:chExt cx="3371761" cy="1006513"/>
          </a:xfrm>
        </p:grpSpPr>
        <p:sp>
          <p:nvSpPr>
            <p:cNvPr id="177" name="Freeform 177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78" name="Freeform 178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293622" y="5721646"/>
            <a:ext cx="116843" cy="775211"/>
            <a:chOff x="0" y="0"/>
            <a:chExt cx="155791" cy="1033615"/>
          </a:xfrm>
        </p:grpSpPr>
        <p:sp>
          <p:nvSpPr>
            <p:cNvPr id="180" name="Freeform 180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452623" y="5734343"/>
            <a:ext cx="2340864" cy="749808"/>
            <a:chOff x="0" y="0"/>
            <a:chExt cx="3121152" cy="999744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Finance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2900672" y="6481608"/>
            <a:ext cx="15083533" cy="754885"/>
            <a:chOff x="0" y="0"/>
            <a:chExt cx="20111377" cy="1006513"/>
          </a:xfrm>
        </p:grpSpPr>
        <p:sp>
          <p:nvSpPr>
            <p:cNvPr id="186" name="Freeform 186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87" name="Freeform 187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88" name="Group 188"/>
          <p:cNvGrpSpPr/>
          <p:nvPr/>
        </p:nvGrpSpPr>
        <p:grpSpPr>
          <a:xfrm>
            <a:off x="303776" y="6481608"/>
            <a:ext cx="2528821" cy="754885"/>
            <a:chOff x="0" y="0"/>
            <a:chExt cx="3371761" cy="1006513"/>
          </a:xfrm>
        </p:grpSpPr>
        <p:sp>
          <p:nvSpPr>
            <p:cNvPr id="189" name="Freeform 189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90" name="Freeform 190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293622" y="6471454"/>
            <a:ext cx="116843" cy="775211"/>
            <a:chOff x="0" y="0"/>
            <a:chExt cx="155791" cy="1033615"/>
          </a:xfrm>
        </p:grpSpPr>
        <p:sp>
          <p:nvSpPr>
            <p:cNvPr id="192" name="Freeform 192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A855F7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93" name="Freeform 193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55F7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94" name="Group 194"/>
          <p:cNvGrpSpPr/>
          <p:nvPr/>
        </p:nvGrpSpPr>
        <p:grpSpPr>
          <a:xfrm>
            <a:off x="452623" y="6484151"/>
            <a:ext cx="2340864" cy="749808"/>
            <a:chOff x="0" y="0"/>
            <a:chExt cx="3121152" cy="999744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HR &amp; People</a:t>
              </a:r>
            </a:p>
          </p:txBody>
        </p:sp>
      </p:grpSp>
      <p:grpSp>
        <p:nvGrpSpPr>
          <p:cNvPr id="197" name="Group 197"/>
          <p:cNvGrpSpPr/>
          <p:nvPr/>
        </p:nvGrpSpPr>
        <p:grpSpPr>
          <a:xfrm>
            <a:off x="2900672" y="7231416"/>
            <a:ext cx="15083533" cy="754885"/>
            <a:chOff x="0" y="0"/>
            <a:chExt cx="20111377" cy="1006513"/>
          </a:xfrm>
        </p:grpSpPr>
        <p:sp>
          <p:nvSpPr>
            <p:cNvPr id="198" name="Freeform 198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99" name="Freeform 199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303776" y="7231416"/>
            <a:ext cx="2528821" cy="754885"/>
            <a:chOff x="0" y="0"/>
            <a:chExt cx="3371761" cy="1006513"/>
          </a:xfrm>
        </p:grpSpPr>
        <p:sp>
          <p:nvSpPr>
            <p:cNvPr id="201" name="Freeform 201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02" name="Freeform 202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03" name="Group 203"/>
          <p:cNvGrpSpPr/>
          <p:nvPr/>
        </p:nvGrpSpPr>
        <p:grpSpPr>
          <a:xfrm>
            <a:off x="293622" y="7221262"/>
            <a:ext cx="116843" cy="775211"/>
            <a:chOff x="0" y="0"/>
            <a:chExt cx="155791" cy="1033615"/>
          </a:xfrm>
        </p:grpSpPr>
        <p:sp>
          <p:nvSpPr>
            <p:cNvPr id="204" name="Freeform 204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05" name="Freeform 205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06" name="Group 206"/>
          <p:cNvGrpSpPr/>
          <p:nvPr/>
        </p:nvGrpSpPr>
        <p:grpSpPr>
          <a:xfrm>
            <a:off x="452623" y="7233959"/>
            <a:ext cx="2340864" cy="749808"/>
            <a:chOff x="0" y="0"/>
            <a:chExt cx="3121152" cy="999744"/>
          </a:xfrm>
        </p:grpSpPr>
        <p:sp>
          <p:nvSpPr>
            <p:cNvPr id="207" name="Freeform 207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</a:t>
              </a:r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2900672" y="7981224"/>
            <a:ext cx="15083533" cy="754885"/>
            <a:chOff x="0" y="0"/>
            <a:chExt cx="20111377" cy="1006513"/>
          </a:xfrm>
        </p:grpSpPr>
        <p:sp>
          <p:nvSpPr>
            <p:cNvPr id="210" name="Freeform 210"/>
            <p:cNvSpPr/>
            <p:nvPr/>
          </p:nvSpPr>
          <p:spPr>
            <a:xfrm>
              <a:off x="3429" y="3429"/>
              <a:ext cx="20104609" cy="999744"/>
            </a:xfrm>
            <a:custGeom>
              <a:avLst/>
              <a:gdLst/>
              <a:ahLst/>
              <a:cxnLst/>
              <a:rect l="l" t="t" r="r" b="b"/>
              <a:pathLst>
                <a:path w="20104609" h="999744">
                  <a:moveTo>
                    <a:pt x="0" y="0"/>
                  </a:moveTo>
                  <a:lnTo>
                    <a:pt x="20104609" y="0"/>
                  </a:lnTo>
                  <a:lnTo>
                    <a:pt x="20104609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11" name="Freeform 211"/>
            <p:cNvSpPr/>
            <p:nvPr/>
          </p:nvSpPr>
          <p:spPr>
            <a:xfrm>
              <a:off x="0" y="0"/>
              <a:ext cx="20111467" cy="1006602"/>
            </a:xfrm>
            <a:custGeom>
              <a:avLst/>
              <a:gdLst/>
              <a:ahLst/>
              <a:cxnLst/>
              <a:rect l="l" t="t" r="r" b="b"/>
              <a:pathLst>
                <a:path w="20111467" h="1006602">
                  <a:moveTo>
                    <a:pt x="3429" y="0"/>
                  </a:moveTo>
                  <a:lnTo>
                    <a:pt x="20108038" y="0"/>
                  </a:lnTo>
                  <a:cubicBezTo>
                    <a:pt x="20109943" y="0"/>
                    <a:pt x="20111467" y="1524"/>
                    <a:pt x="20111467" y="3429"/>
                  </a:cubicBezTo>
                  <a:lnTo>
                    <a:pt x="20111467" y="1003173"/>
                  </a:lnTo>
                  <a:cubicBezTo>
                    <a:pt x="20111467" y="1005078"/>
                    <a:pt x="20109943" y="1006602"/>
                    <a:pt x="20108038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20108038" y="999744"/>
                  </a:lnTo>
                  <a:lnTo>
                    <a:pt x="20108038" y="1003173"/>
                  </a:lnTo>
                  <a:lnTo>
                    <a:pt x="20104608" y="1003173"/>
                  </a:lnTo>
                  <a:lnTo>
                    <a:pt x="20104608" y="3429"/>
                  </a:lnTo>
                  <a:lnTo>
                    <a:pt x="20108038" y="3429"/>
                  </a:lnTo>
                  <a:lnTo>
                    <a:pt x="20108038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12" name="Group 212"/>
          <p:cNvGrpSpPr/>
          <p:nvPr/>
        </p:nvGrpSpPr>
        <p:grpSpPr>
          <a:xfrm>
            <a:off x="303776" y="7981224"/>
            <a:ext cx="2528821" cy="754885"/>
            <a:chOff x="0" y="0"/>
            <a:chExt cx="3371761" cy="1006513"/>
          </a:xfrm>
        </p:grpSpPr>
        <p:sp>
          <p:nvSpPr>
            <p:cNvPr id="213" name="Freeform 213"/>
            <p:cNvSpPr/>
            <p:nvPr/>
          </p:nvSpPr>
          <p:spPr>
            <a:xfrm>
              <a:off x="3429" y="3429"/>
              <a:ext cx="3364992" cy="999744"/>
            </a:xfrm>
            <a:custGeom>
              <a:avLst/>
              <a:gdLst/>
              <a:ahLst/>
              <a:cxnLst/>
              <a:rect l="l" t="t" r="r" b="b"/>
              <a:pathLst>
                <a:path w="3364992" h="999744">
                  <a:moveTo>
                    <a:pt x="0" y="0"/>
                  </a:moveTo>
                  <a:lnTo>
                    <a:pt x="3364992" y="0"/>
                  </a:lnTo>
                  <a:lnTo>
                    <a:pt x="336499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14" name="Freeform 214"/>
            <p:cNvSpPr/>
            <p:nvPr/>
          </p:nvSpPr>
          <p:spPr>
            <a:xfrm>
              <a:off x="0" y="0"/>
              <a:ext cx="3371850" cy="1006602"/>
            </a:xfrm>
            <a:custGeom>
              <a:avLst/>
              <a:gdLst/>
              <a:ahLst/>
              <a:cxnLst/>
              <a:rect l="l" t="t" r="r" b="b"/>
              <a:pathLst>
                <a:path w="3371850" h="1006602">
                  <a:moveTo>
                    <a:pt x="3429" y="0"/>
                  </a:moveTo>
                  <a:lnTo>
                    <a:pt x="3368421" y="0"/>
                  </a:lnTo>
                  <a:cubicBezTo>
                    <a:pt x="3370326" y="0"/>
                    <a:pt x="3371850" y="1524"/>
                    <a:pt x="3371850" y="3429"/>
                  </a:cubicBezTo>
                  <a:lnTo>
                    <a:pt x="3371850" y="1003173"/>
                  </a:lnTo>
                  <a:cubicBezTo>
                    <a:pt x="3371850" y="1005078"/>
                    <a:pt x="3370326" y="1006602"/>
                    <a:pt x="3368421" y="1006602"/>
                  </a:cubicBezTo>
                  <a:lnTo>
                    <a:pt x="3429" y="1006602"/>
                  </a:lnTo>
                  <a:cubicBezTo>
                    <a:pt x="1524" y="1006602"/>
                    <a:pt x="0" y="1005078"/>
                    <a:pt x="0" y="100317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03173"/>
                  </a:lnTo>
                  <a:lnTo>
                    <a:pt x="3429" y="1003173"/>
                  </a:lnTo>
                  <a:lnTo>
                    <a:pt x="3429" y="999744"/>
                  </a:lnTo>
                  <a:lnTo>
                    <a:pt x="3368421" y="999744"/>
                  </a:lnTo>
                  <a:lnTo>
                    <a:pt x="3368421" y="1003173"/>
                  </a:lnTo>
                  <a:lnTo>
                    <a:pt x="3364992" y="1003173"/>
                  </a:lnTo>
                  <a:lnTo>
                    <a:pt x="3364992" y="3429"/>
                  </a:lnTo>
                  <a:lnTo>
                    <a:pt x="3368421" y="3429"/>
                  </a:lnTo>
                  <a:lnTo>
                    <a:pt x="3368421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15" name="Group 215"/>
          <p:cNvGrpSpPr/>
          <p:nvPr/>
        </p:nvGrpSpPr>
        <p:grpSpPr>
          <a:xfrm>
            <a:off x="293622" y="7971070"/>
            <a:ext cx="116843" cy="775211"/>
            <a:chOff x="0" y="0"/>
            <a:chExt cx="155791" cy="1033615"/>
          </a:xfrm>
        </p:grpSpPr>
        <p:sp>
          <p:nvSpPr>
            <p:cNvPr id="216" name="Freeform 216"/>
            <p:cNvSpPr/>
            <p:nvPr/>
          </p:nvSpPr>
          <p:spPr>
            <a:xfrm>
              <a:off x="16891" y="16891"/>
              <a:ext cx="121920" cy="999744"/>
            </a:xfrm>
            <a:custGeom>
              <a:avLst/>
              <a:gdLst/>
              <a:ahLst/>
              <a:cxnLst/>
              <a:rect l="l" t="t" r="r" b="b"/>
              <a:pathLst>
                <a:path w="121920" h="999744">
                  <a:moveTo>
                    <a:pt x="0" y="0"/>
                  </a:moveTo>
                  <a:lnTo>
                    <a:pt x="121920" y="0"/>
                  </a:lnTo>
                  <a:lnTo>
                    <a:pt x="121920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17" name="Freeform 217"/>
            <p:cNvSpPr/>
            <p:nvPr/>
          </p:nvSpPr>
          <p:spPr>
            <a:xfrm>
              <a:off x="0" y="0"/>
              <a:ext cx="155702" cy="1033528"/>
            </a:xfrm>
            <a:custGeom>
              <a:avLst/>
              <a:gdLst/>
              <a:ahLst/>
              <a:cxnLst/>
              <a:rect l="l" t="t" r="r" b="b"/>
              <a:pathLst>
                <a:path w="155702" h="1033528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16635"/>
                  </a:lnTo>
                  <a:cubicBezTo>
                    <a:pt x="155702" y="1026033"/>
                    <a:pt x="148082" y="1033526"/>
                    <a:pt x="138811" y="1033526"/>
                  </a:cubicBezTo>
                  <a:lnTo>
                    <a:pt x="16891" y="1033526"/>
                  </a:lnTo>
                  <a:cubicBezTo>
                    <a:pt x="7620" y="1033653"/>
                    <a:pt x="0" y="1026033"/>
                    <a:pt x="0" y="10166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16891" y="999744"/>
                  </a:lnTo>
                  <a:lnTo>
                    <a:pt x="138811" y="999744"/>
                  </a:lnTo>
                  <a:lnTo>
                    <a:pt x="138811" y="1016635"/>
                  </a:lnTo>
                  <a:lnTo>
                    <a:pt x="121920" y="1016635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18" name="Group 218"/>
          <p:cNvGrpSpPr/>
          <p:nvPr/>
        </p:nvGrpSpPr>
        <p:grpSpPr>
          <a:xfrm>
            <a:off x="452623" y="7983767"/>
            <a:ext cx="2340864" cy="749808"/>
            <a:chOff x="0" y="0"/>
            <a:chExt cx="3121152" cy="999744"/>
          </a:xfrm>
        </p:grpSpPr>
        <p:sp>
          <p:nvSpPr>
            <p:cNvPr id="219" name="Freeform 219"/>
            <p:cNvSpPr/>
            <p:nvPr/>
          </p:nvSpPr>
          <p:spPr>
            <a:xfrm>
              <a:off x="0" y="0"/>
              <a:ext cx="3121152" cy="999744"/>
            </a:xfrm>
            <a:custGeom>
              <a:avLst/>
              <a:gdLst/>
              <a:ahLst/>
              <a:cxnLst/>
              <a:rect l="l" t="t" r="r" b="b"/>
              <a:pathLst>
                <a:path w="3121152" h="999744">
                  <a:moveTo>
                    <a:pt x="0" y="0"/>
                  </a:moveTo>
                  <a:lnTo>
                    <a:pt x="3121152" y="0"/>
                  </a:lnTo>
                  <a:lnTo>
                    <a:pt x="312115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" b="-108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20" name="TextBox 220"/>
            <p:cNvSpPr txBox="1"/>
            <p:nvPr/>
          </p:nvSpPr>
          <p:spPr>
            <a:xfrm>
              <a:off x="0" y="-28575"/>
              <a:ext cx="3121152" cy="1028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PMO</a:t>
              </a:r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3178297" y="2941613"/>
            <a:ext cx="336804" cy="336804"/>
            <a:chOff x="0" y="0"/>
            <a:chExt cx="449072" cy="449072"/>
          </a:xfrm>
        </p:grpSpPr>
        <p:sp>
          <p:nvSpPr>
            <p:cNvPr id="222" name="Freeform 222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23" name="Freeform 223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952233" y="2941613"/>
            <a:ext cx="336804" cy="336804"/>
            <a:chOff x="0" y="0"/>
            <a:chExt cx="449072" cy="449072"/>
          </a:xfrm>
        </p:grpSpPr>
        <p:sp>
          <p:nvSpPr>
            <p:cNvPr id="225" name="Freeform 225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26" name="Freeform 226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27" name="Group 227"/>
          <p:cNvGrpSpPr/>
          <p:nvPr/>
        </p:nvGrpSpPr>
        <p:grpSpPr>
          <a:xfrm>
            <a:off x="12047977" y="2941613"/>
            <a:ext cx="336804" cy="336804"/>
            <a:chOff x="0" y="0"/>
            <a:chExt cx="449072" cy="449072"/>
          </a:xfrm>
        </p:grpSpPr>
        <p:sp>
          <p:nvSpPr>
            <p:cNvPr id="228" name="Freeform 228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29" name="Freeform 229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30" name="Group 230"/>
          <p:cNvGrpSpPr/>
          <p:nvPr/>
        </p:nvGrpSpPr>
        <p:grpSpPr>
          <a:xfrm>
            <a:off x="3178297" y="3691421"/>
            <a:ext cx="336804" cy="336804"/>
            <a:chOff x="0" y="0"/>
            <a:chExt cx="449072" cy="449072"/>
          </a:xfrm>
        </p:grpSpPr>
        <p:sp>
          <p:nvSpPr>
            <p:cNvPr id="231" name="Freeform 231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32" name="Freeform 232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33" name="Group 233"/>
          <p:cNvGrpSpPr/>
          <p:nvPr/>
        </p:nvGrpSpPr>
        <p:grpSpPr>
          <a:xfrm>
            <a:off x="8500105" y="3691421"/>
            <a:ext cx="336804" cy="336804"/>
            <a:chOff x="0" y="0"/>
            <a:chExt cx="449072" cy="449072"/>
          </a:xfrm>
        </p:grpSpPr>
        <p:sp>
          <p:nvSpPr>
            <p:cNvPr id="234" name="Freeform 234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35" name="Freeform 235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36" name="Group 236"/>
          <p:cNvGrpSpPr/>
          <p:nvPr/>
        </p:nvGrpSpPr>
        <p:grpSpPr>
          <a:xfrm>
            <a:off x="10274041" y="3691421"/>
            <a:ext cx="336804" cy="336804"/>
            <a:chOff x="0" y="0"/>
            <a:chExt cx="449072" cy="449072"/>
          </a:xfrm>
        </p:grpSpPr>
        <p:sp>
          <p:nvSpPr>
            <p:cNvPr id="237" name="Freeform 237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38" name="Freeform 238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39" name="Group 239"/>
          <p:cNvGrpSpPr/>
          <p:nvPr/>
        </p:nvGrpSpPr>
        <p:grpSpPr>
          <a:xfrm>
            <a:off x="12047977" y="3691421"/>
            <a:ext cx="336804" cy="336804"/>
            <a:chOff x="0" y="0"/>
            <a:chExt cx="449072" cy="449072"/>
          </a:xfrm>
        </p:grpSpPr>
        <p:sp>
          <p:nvSpPr>
            <p:cNvPr id="240" name="Freeform 240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41" name="Freeform 241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2" name="Group 242"/>
          <p:cNvGrpSpPr/>
          <p:nvPr/>
        </p:nvGrpSpPr>
        <p:grpSpPr>
          <a:xfrm>
            <a:off x="4952233" y="4441229"/>
            <a:ext cx="336804" cy="336804"/>
            <a:chOff x="0" y="0"/>
            <a:chExt cx="449072" cy="449072"/>
          </a:xfrm>
        </p:grpSpPr>
        <p:sp>
          <p:nvSpPr>
            <p:cNvPr id="243" name="Freeform 243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44" name="Freeform 244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5" name="Group 245"/>
          <p:cNvGrpSpPr/>
          <p:nvPr/>
        </p:nvGrpSpPr>
        <p:grpSpPr>
          <a:xfrm>
            <a:off x="12934945" y="4441229"/>
            <a:ext cx="336804" cy="336804"/>
            <a:chOff x="0" y="0"/>
            <a:chExt cx="449072" cy="449072"/>
          </a:xfrm>
        </p:grpSpPr>
        <p:sp>
          <p:nvSpPr>
            <p:cNvPr id="246" name="Freeform 246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47" name="Freeform 247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8" name="Group 248"/>
          <p:cNvGrpSpPr/>
          <p:nvPr/>
        </p:nvGrpSpPr>
        <p:grpSpPr>
          <a:xfrm>
            <a:off x="3178297" y="5191037"/>
            <a:ext cx="336804" cy="336804"/>
            <a:chOff x="0" y="0"/>
            <a:chExt cx="449072" cy="449072"/>
          </a:xfrm>
        </p:grpSpPr>
        <p:sp>
          <p:nvSpPr>
            <p:cNvPr id="249" name="Freeform 249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50" name="Freeform 250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1" name="Group 251"/>
          <p:cNvGrpSpPr/>
          <p:nvPr/>
        </p:nvGrpSpPr>
        <p:grpSpPr>
          <a:xfrm>
            <a:off x="4952233" y="5191037"/>
            <a:ext cx="336804" cy="336804"/>
            <a:chOff x="0" y="0"/>
            <a:chExt cx="449072" cy="449072"/>
          </a:xfrm>
        </p:grpSpPr>
        <p:sp>
          <p:nvSpPr>
            <p:cNvPr id="252" name="Freeform 252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53" name="Freeform 253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4" name="Group 254"/>
          <p:cNvGrpSpPr/>
          <p:nvPr/>
        </p:nvGrpSpPr>
        <p:grpSpPr>
          <a:xfrm>
            <a:off x="6726169" y="5191037"/>
            <a:ext cx="336804" cy="336804"/>
            <a:chOff x="0" y="0"/>
            <a:chExt cx="449072" cy="449072"/>
          </a:xfrm>
        </p:grpSpPr>
        <p:sp>
          <p:nvSpPr>
            <p:cNvPr id="255" name="Freeform 255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56" name="Freeform 256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7" name="Group 257"/>
          <p:cNvGrpSpPr/>
          <p:nvPr/>
        </p:nvGrpSpPr>
        <p:grpSpPr>
          <a:xfrm>
            <a:off x="8500105" y="5191037"/>
            <a:ext cx="336804" cy="336804"/>
            <a:chOff x="0" y="0"/>
            <a:chExt cx="449072" cy="449072"/>
          </a:xfrm>
        </p:grpSpPr>
        <p:sp>
          <p:nvSpPr>
            <p:cNvPr id="258" name="Freeform 258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59" name="Freeform 259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0" name="Group 260"/>
          <p:cNvGrpSpPr/>
          <p:nvPr/>
        </p:nvGrpSpPr>
        <p:grpSpPr>
          <a:xfrm>
            <a:off x="12047977" y="5191037"/>
            <a:ext cx="336804" cy="336804"/>
            <a:chOff x="0" y="0"/>
            <a:chExt cx="449072" cy="449072"/>
          </a:xfrm>
        </p:grpSpPr>
        <p:sp>
          <p:nvSpPr>
            <p:cNvPr id="261" name="Freeform 261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62" name="Freeform 262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6" name="Group 266"/>
          <p:cNvGrpSpPr/>
          <p:nvPr/>
        </p:nvGrpSpPr>
        <p:grpSpPr>
          <a:xfrm>
            <a:off x="3178297" y="5940845"/>
            <a:ext cx="336804" cy="336804"/>
            <a:chOff x="0" y="0"/>
            <a:chExt cx="449072" cy="449072"/>
          </a:xfrm>
        </p:grpSpPr>
        <p:sp>
          <p:nvSpPr>
            <p:cNvPr id="267" name="Freeform 267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68" name="Freeform 268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9" name="Group 269"/>
          <p:cNvGrpSpPr/>
          <p:nvPr/>
        </p:nvGrpSpPr>
        <p:grpSpPr>
          <a:xfrm>
            <a:off x="4952233" y="5940845"/>
            <a:ext cx="336804" cy="336804"/>
            <a:chOff x="0" y="0"/>
            <a:chExt cx="449072" cy="449072"/>
          </a:xfrm>
        </p:grpSpPr>
        <p:sp>
          <p:nvSpPr>
            <p:cNvPr id="270" name="Freeform 270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71" name="Freeform 271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2" name="Group 272"/>
          <p:cNvGrpSpPr/>
          <p:nvPr/>
        </p:nvGrpSpPr>
        <p:grpSpPr>
          <a:xfrm>
            <a:off x="6726169" y="5940845"/>
            <a:ext cx="336804" cy="336804"/>
            <a:chOff x="0" y="0"/>
            <a:chExt cx="449072" cy="449072"/>
          </a:xfrm>
        </p:grpSpPr>
        <p:sp>
          <p:nvSpPr>
            <p:cNvPr id="273" name="Freeform 273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74" name="Freeform 274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5" name="Group 275"/>
          <p:cNvGrpSpPr/>
          <p:nvPr/>
        </p:nvGrpSpPr>
        <p:grpSpPr>
          <a:xfrm>
            <a:off x="4952233" y="6690653"/>
            <a:ext cx="336804" cy="336804"/>
            <a:chOff x="0" y="0"/>
            <a:chExt cx="449072" cy="449072"/>
          </a:xfrm>
        </p:grpSpPr>
        <p:sp>
          <p:nvSpPr>
            <p:cNvPr id="276" name="Freeform 276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A855F7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77" name="Freeform 277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8" name="Group 278"/>
          <p:cNvGrpSpPr/>
          <p:nvPr/>
        </p:nvGrpSpPr>
        <p:grpSpPr>
          <a:xfrm>
            <a:off x="6726169" y="6690653"/>
            <a:ext cx="336804" cy="336804"/>
            <a:chOff x="0" y="0"/>
            <a:chExt cx="449072" cy="449072"/>
          </a:xfrm>
        </p:grpSpPr>
        <p:sp>
          <p:nvSpPr>
            <p:cNvPr id="279" name="Freeform 279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A855F7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80" name="Freeform 280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81" name="Group 281"/>
          <p:cNvGrpSpPr/>
          <p:nvPr/>
        </p:nvGrpSpPr>
        <p:grpSpPr>
          <a:xfrm>
            <a:off x="8500105" y="6690653"/>
            <a:ext cx="336804" cy="336804"/>
            <a:chOff x="0" y="0"/>
            <a:chExt cx="449072" cy="449072"/>
          </a:xfrm>
        </p:grpSpPr>
        <p:sp>
          <p:nvSpPr>
            <p:cNvPr id="282" name="Freeform 282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A855F7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83" name="Freeform 283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84" name="Group 284"/>
          <p:cNvGrpSpPr/>
          <p:nvPr/>
        </p:nvGrpSpPr>
        <p:grpSpPr>
          <a:xfrm>
            <a:off x="10274041" y="6690653"/>
            <a:ext cx="336804" cy="336804"/>
            <a:chOff x="0" y="0"/>
            <a:chExt cx="449072" cy="449072"/>
          </a:xfrm>
        </p:grpSpPr>
        <p:sp>
          <p:nvSpPr>
            <p:cNvPr id="285" name="Freeform 285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A855F7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86" name="Freeform 286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87" name="Group 287"/>
          <p:cNvGrpSpPr/>
          <p:nvPr/>
        </p:nvGrpSpPr>
        <p:grpSpPr>
          <a:xfrm>
            <a:off x="4952233" y="7440461"/>
            <a:ext cx="336804" cy="336804"/>
            <a:chOff x="0" y="0"/>
            <a:chExt cx="449072" cy="449072"/>
          </a:xfrm>
        </p:grpSpPr>
        <p:sp>
          <p:nvSpPr>
            <p:cNvPr id="288" name="Freeform 288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89" name="Freeform 289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90" name="Group 290"/>
          <p:cNvGrpSpPr/>
          <p:nvPr/>
        </p:nvGrpSpPr>
        <p:grpSpPr>
          <a:xfrm>
            <a:off x="6726169" y="7440461"/>
            <a:ext cx="336804" cy="336804"/>
            <a:chOff x="0" y="0"/>
            <a:chExt cx="449072" cy="449072"/>
          </a:xfrm>
        </p:grpSpPr>
        <p:sp>
          <p:nvSpPr>
            <p:cNvPr id="291" name="Freeform 291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92" name="Freeform 292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93" name="Group 293"/>
          <p:cNvGrpSpPr/>
          <p:nvPr/>
        </p:nvGrpSpPr>
        <p:grpSpPr>
          <a:xfrm>
            <a:off x="8500105" y="7440461"/>
            <a:ext cx="336804" cy="336804"/>
            <a:chOff x="0" y="0"/>
            <a:chExt cx="449072" cy="449072"/>
          </a:xfrm>
        </p:grpSpPr>
        <p:sp>
          <p:nvSpPr>
            <p:cNvPr id="294" name="Freeform 294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95" name="Freeform 295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96" name="Group 296"/>
          <p:cNvGrpSpPr/>
          <p:nvPr/>
        </p:nvGrpSpPr>
        <p:grpSpPr>
          <a:xfrm>
            <a:off x="13821913" y="7440461"/>
            <a:ext cx="336804" cy="336804"/>
            <a:chOff x="0" y="0"/>
            <a:chExt cx="449072" cy="449072"/>
          </a:xfrm>
        </p:grpSpPr>
        <p:sp>
          <p:nvSpPr>
            <p:cNvPr id="297" name="Freeform 297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4B8A6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98" name="Freeform 298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99" name="Group 299"/>
          <p:cNvGrpSpPr/>
          <p:nvPr/>
        </p:nvGrpSpPr>
        <p:grpSpPr>
          <a:xfrm>
            <a:off x="5633718" y="8080798"/>
            <a:ext cx="9617459" cy="555755"/>
            <a:chOff x="0" y="0"/>
            <a:chExt cx="12823279" cy="741007"/>
          </a:xfrm>
        </p:grpSpPr>
        <p:sp>
          <p:nvSpPr>
            <p:cNvPr id="300" name="Freeform 300"/>
            <p:cNvSpPr/>
            <p:nvPr/>
          </p:nvSpPr>
          <p:spPr>
            <a:xfrm>
              <a:off x="16891" y="16891"/>
              <a:ext cx="12789408" cy="707136"/>
            </a:xfrm>
            <a:custGeom>
              <a:avLst/>
              <a:gdLst/>
              <a:ahLst/>
              <a:cxnLst/>
              <a:rect l="l" t="t" r="r" b="b"/>
              <a:pathLst>
                <a:path w="12789408" h="707136">
                  <a:moveTo>
                    <a:pt x="0" y="0"/>
                  </a:moveTo>
                  <a:lnTo>
                    <a:pt x="12789408" y="0"/>
                  </a:lnTo>
                  <a:lnTo>
                    <a:pt x="12789408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6B7280">
                <a:alpha val="4706"/>
              </a:srgbClr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01" name="Freeform 301"/>
            <p:cNvSpPr/>
            <p:nvPr/>
          </p:nvSpPr>
          <p:spPr>
            <a:xfrm>
              <a:off x="0" y="0"/>
              <a:ext cx="12823190" cy="740920"/>
            </a:xfrm>
            <a:custGeom>
              <a:avLst/>
              <a:gdLst/>
              <a:ahLst/>
              <a:cxnLst/>
              <a:rect l="l" t="t" r="r" b="b"/>
              <a:pathLst>
                <a:path w="12823190" h="740920">
                  <a:moveTo>
                    <a:pt x="16891" y="0"/>
                  </a:moveTo>
                  <a:lnTo>
                    <a:pt x="12806299" y="0"/>
                  </a:lnTo>
                  <a:cubicBezTo>
                    <a:pt x="12815697" y="0"/>
                    <a:pt x="12823190" y="7620"/>
                    <a:pt x="12823190" y="16891"/>
                  </a:cubicBezTo>
                  <a:lnTo>
                    <a:pt x="12823190" y="724027"/>
                  </a:lnTo>
                  <a:cubicBezTo>
                    <a:pt x="12823190" y="733425"/>
                    <a:pt x="12815570" y="740918"/>
                    <a:pt x="12806299" y="740918"/>
                  </a:cubicBezTo>
                  <a:lnTo>
                    <a:pt x="16891" y="740918"/>
                  </a:lnTo>
                  <a:cubicBezTo>
                    <a:pt x="7620" y="741045"/>
                    <a:pt x="0" y="733425"/>
                    <a:pt x="0" y="7240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24027"/>
                  </a:lnTo>
                  <a:lnTo>
                    <a:pt x="16891" y="724027"/>
                  </a:lnTo>
                  <a:lnTo>
                    <a:pt x="16891" y="707136"/>
                  </a:lnTo>
                  <a:lnTo>
                    <a:pt x="12806299" y="707136"/>
                  </a:lnTo>
                  <a:lnTo>
                    <a:pt x="12806299" y="724027"/>
                  </a:lnTo>
                  <a:lnTo>
                    <a:pt x="12789408" y="724027"/>
                  </a:lnTo>
                  <a:lnTo>
                    <a:pt x="12789408" y="16891"/>
                  </a:lnTo>
                  <a:lnTo>
                    <a:pt x="12806299" y="16891"/>
                  </a:lnTo>
                  <a:lnTo>
                    <a:pt x="1280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02" name="Group 302"/>
          <p:cNvGrpSpPr/>
          <p:nvPr/>
        </p:nvGrpSpPr>
        <p:grpSpPr>
          <a:xfrm>
            <a:off x="3178297" y="8190269"/>
            <a:ext cx="336804" cy="336804"/>
            <a:chOff x="0" y="0"/>
            <a:chExt cx="449072" cy="449072"/>
          </a:xfrm>
        </p:grpSpPr>
        <p:sp>
          <p:nvSpPr>
            <p:cNvPr id="303" name="Freeform 303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04" name="Freeform 304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05" name="Group 305"/>
          <p:cNvGrpSpPr/>
          <p:nvPr/>
        </p:nvGrpSpPr>
        <p:grpSpPr>
          <a:xfrm>
            <a:off x="6726169" y="8190269"/>
            <a:ext cx="336804" cy="336804"/>
            <a:chOff x="0" y="0"/>
            <a:chExt cx="449072" cy="449072"/>
          </a:xfrm>
        </p:grpSpPr>
        <p:sp>
          <p:nvSpPr>
            <p:cNvPr id="306" name="Freeform 306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07" name="Freeform 307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08" name="Group 308"/>
          <p:cNvGrpSpPr/>
          <p:nvPr/>
        </p:nvGrpSpPr>
        <p:grpSpPr>
          <a:xfrm>
            <a:off x="8500105" y="8190269"/>
            <a:ext cx="336804" cy="336804"/>
            <a:chOff x="0" y="0"/>
            <a:chExt cx="449072" cy="449072"/>
          </a:xfrm>
        </p:grpSpPr>
        <p:sp>
          <p:nvSpPr>
            <p:cNvPr id="309" name="Freeform 309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10" name="Freeform 310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11" name="Group 311"/>
          <p:cNvGrpSpPr/>
          <p:nvPr/>
        </p:nvGrpSpPr>
        <p:grpSpPr>
          <a:xfrm>
            <a:off x="10274041" y="8190269"/>
            <a:ext cx="336804" cy="336804"/>
            <a:chOff x="0" y="0"/>
            <a:chExt cx="449072" cy="449072"/>
          </a:xfrm>
        </p:grpSpPr>
        <p:sp>
          <p:nvSpPr>
            <p:cNvPr id="312" name="Freeform 312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13" name="Freeform 313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14" name="Group 314"/>
          <p:cNvGrpSpPr/>
          <p:nvPr/>
        </p:nvGrpSpPr>
        <p:grpSpPr>
          <a:xfrm>
            <a:off x="12047977" y="8190269"/>
            <a:ext cx="336804" cy="336804"/>
            <a:chOff x="0" y="0"/>
            <a:chExt cx="449072" cy="449072"/>
          </a:xfrm>
        </p:grpSpPr>
        <p:sp>
          <p:nvSpPr>
            <p:cNvPr id="315" name="Freeform 315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16" name="Freeform 316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17" name="Group 317"/>
          <p:cNvGrpSpPr/>
          <p:nvPr/>
        </p:nvGrpSpPr>
        <p:grpSpPr>
          <a:xfrm>
            <a:off x="13821913" y="8190269"/>
            <a:ext cx="336804" cy="336804"/>
            <a:chOff x="0" y="0"/>
            <a:chExt cx="449072" cy="449072"/>
          </a:xfrm>
        </p:grpSpPr>
        <p:sp>
          <p:nvSpPr>
            <p:cNvPr id="318" name="Freeform 318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19" name="Freeform 319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0" name="Group 320"/>
          <p:cNvGrpSpPr/>
          <p:nvPr/>
        </p:nvGrpSpPr>
        <p:grpSpPr>
          <a:xfrm>
            <a:off x="16482817" y="8190269"/>
            <a:ext cx="336804" cy="336804"/>
            <a:chOff x="0" y="0"/>
            <a:chExt cx="449072" cy="449072"/>
          </a:xfrm>
        </p:grpSpPr>
        <p:sp>
          <p:nvSpPr>
            <p:cNvPr id="321" name="Freeform 321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22" name="Freeform 322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3" name="Group 323"/>
          <p:cNvGrpSpPr/>
          <p:nvPr/>
        </p:nvGrpSpPr>
        <p:grpSpPr>
          <a:xfrm>
            <a:off x="5745980" y="2920782"/>
            <a:ext cx="2664457" cy="378457"/>
            <a:chOff x="0" y="0"/>
            <a:chExt cx="3552609" cy="504609"/>
          </a:xfrm>
        </p:grpSpPr>
        <p:sp>
          <p:nvSpPr>
            <p:cNvPr id="324" name="Freeform 324"/>
            <p:cNvSpPr/>
            <p:nvPr/>
          </p:nvSpPr>
          <p:spPr>
            <a:xfrm>
              <a:off x="8509" y="8509"/>
              <a:ext cx="3535680" cy="487680"/>
            </a:xfrm>
            <a:custGeom>
              <a:avLst/>
              <a:gdLst/>
              <a:ahLst/>
              <a:cxnLst/>
              <a:rect l="l" t="t" r="r" b="b"/>
              <a:pathLst>
                <a:path w="3535680" h="487680">
                  <a:moveTo>
                    <a:pt x="0" y="73152"/>
                  </a:moveTo>
                  <a:cubicBezTo>
                    <a:pt x="0" y="32766"/>
                    <a:pt x="33655" y="0"/>
                    <a:pt x="75311" y="0"/>
                  </a:cubicBezTo>
                  <a:lnTo>
                    <a:pt x="3460369" y="0"/>
                  </a:lnTo>
                  <a:cubicBezTo>
                    <a:pt x="3502025" y="0"/>
                    <a:pt x="3535680" y="32766"/>
                    <a:pt x="3535680" y="73152"/>
                  </a:cubicBezTo>
                  <a:lnTo>
                    <a:pt x="3535680" y="414528"/>
                  </a:lnTo>
                  <a:cubicBezTo>
                    <a:pt x="3535680" y="454914"/>
                    <a:pt x="3501898" y="487680"/>
                    <a:pt x="3460369" y="487680"/>
                  </a:cubicBezTo>
                  <a:lnTo>
                    <a:pt x="75311" y="487680"/>
                  </a:lnTo>
                  <a:cubicBezTo>
                    <a:pt x="33655" y="487680"/>
                    <a:pt x="0" y="454914"/>
                    <a:pt x="0" y="414528"/>
                  </a:cubicBezTo>
                  <a:close/>
                </a:path>
              </a:pathLst>
            </a:custGeom>
            <a:solidFill>
              <a:srgbClr val="150E0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25" name="Freeform 325"/>
            <p:cNvSpPr/>
            <p:nvPr/>
          </p:nvSpPr>
          <p:spPr>
            <a:xfrm>
              <a:off x="0" y="0"/>
              <a:ext cx="3552698" cy="504698"/>
            </a:xfrm>
            <a:custGeom>
              <a:avLst/>
              <a:gdLst/>
              <a:ahLst/>
              <a:cxnLst/>
              <a:rect l="l" t="t" r="r" b="b"/>
              <a:pathLst>
                <a:path w="3552698" h="504698">
                  <a:moveTo>
                    <a:pt x="0" y="81661"/>
                  </a:moveTo>
                  <a:cubicBezTo>
                    <a:pt x="0" y="36322"/>
                    <a:pt x="37719" y="0"/>
                    <a:pt x="83820" y="0"/>
                  </a:cubicBezTo>
                  <a:lnTo>
                    <a:pt x="3468878" y="0"/>
                  </a:lnTo>
                  <a:lnTo>
                    <a:pt x="3468878" y="8509"/>
                  </a:lnTo>
                  <a:lnTo>
                    <a:pt x="3468878" y="0"/>
                  </a:lnTo>
                  <a:cubicBezTo>
                    <a:pt x="3514979" y="0"/>
                    <a:pt x="3552698" y="36322"/>
                    <a:pt x="3552698" y="81661"/>
                  </a:cubicBezTo>
                  <a:lnTo>
                    <a:pt x="3544189" y="81661"/>
                  </a:lnTo>
                  <a:lnTo>
                    <a:pt x="3552698" y="81661"/>
                  </a:lnTo>
                  <a:lnTo>
                    <a:pt x="3552698" y="423037"/>
                  </a:lnTo>
                  <a:lnTo>
                    <a:pt x="3544189" y="423037"/>
                  </a:lnTo>
                  <a:lnTo>
                    <a:pt x="3552698" y="423037"/>
                  </a:lnTo>
                  <a:cubicBezTo>
                    <a:pt x="3552698" y="468376"/>
                    <a:pt x="3514979" y="504698"/>
                    <a:pt x="3468878" y="504698"/>
                  </a:cubicBezTo>
                  <a:lnTo>
                    <a:pt x="3468878" y="496189"/>
                  </a:lnTo>
                  <a:lnTo>
                    <a:pt x="3468878" y="504698"/>
                  </a:lnTo>
                  <a:lnTo>
                    <a:pt x="83820" y="504698"/>
                  </a:lnTo>
                  <a:lnTo>
                    <a:pt x="83820" y="496189"/>
                  </a:lnTo>
                  <a:lnTo>
                    <a:pt x="83820" y="504698"/>
                  </a:lnTo>
                  <a:cubicBezTo>
                    <a:pt x="37719" y="504698"/>
                    <a:pt x="0" y="468376"/>
                    <a:pt x="0" y="423037"/>
                  </a:cubicBezTo>
                  <a:lnTo>
                    <a:pt x="0" y="81661"/>
                  </a:lnTo>
                  <a:lnTo>
                    <a:pt x="8509" y="81661"/>
                  </a:lnTo>
                  <a:lnTo>
                    <a:pt x="0" y="81661"/>
                  </a:lnTo>
                  <a:moveTo>
                    <a:pt x="16891" y="81661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458470"/>
                    <a:pt x="46736" y="487680"/>
                    <a:pt x="83820" y="487680"/>
                  </a:cubicBezTo>
                  <a:lnTo>
                    <a:pt x="3468878" y="487680"/>
                  </a:lnTo>
                  <a:cubicBezTo>
                    <a:pt x="3506089" y="487680"/>
                    <a:pt x="3535680" y="458470"/>
                    <a:pt x="3535680" y="423037"/>
                  </a:cubicBezTo>
                  <a:lnTo>
                    <a:pt x="3535680" y="81661"/>
                  </a:lnTo>
                  <a:cubicBezTo>
                    <a:pt x="3535680" y="46228"/>
                    <a:pt x="3505962" y="17018"/>
                    <a:pt x="3468878" y="17018"/>
                  </a:cubicBezTo>
                  <a:lnTo>
                    <a:pt x="83820" y="17018"/>
                  </a:lnTo>
                  <a:lnTo>
                    <a:pt x="83820" y="8509"/>
                  </a:lnTo>
                  <a:lnTo>
                    <a:pt x="83820" y="17018"/>
                  </a:lnTo>
                  <a:cubicBezTo>
                    <a:pt x="46609" y="17018"/>
                    <a:pt x="17018" y="46228"/>
                    <a:pt x="17018" y="81661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6" name="Group 326"/>
          <p:cNvGrpSpPr/>
          <p:nvPr/>
        </p:nvGrpSpPr>
        <p:grpSpPr>
          <a:xfrm>
            <a:off x="5670037" y="2933479"/>
            <a:ext cx="2651760" cy="365760"/>
            <a:chOff x="0" y="0"/>
            <a:chExt cx="3535680" cy="487680"/>
          </a:xfrm>
        </p:grpSpPr>
        <p:sp>
          <p:nvSpPr>
            <p:cNvPr id="327" name="Freeform 327"/>
            <p:cNvSpPr/>
            <p:nvPr/>
          </p:nvSpPr>
          <p:spPr>
            <a:xfrm>
              <a:off x="0" y="0"/>
              <a:ext cx="3535680" cy="487680"/>
            </a:xfrm>
            <a:custGeom>
              <a:avLst/>
              <a:gdLst/>
              <a:ahLst/>
              <a:cxnLst/>
              <a:rect l="l" t="t" r="r" b="b"/>
              <a:pathLst>
                <a:path w="3535680" h="487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28" name="TextBox 328"/>
            <p:cNvSpPr txBox="1"/>
            <p:nvPr/>
          </p:nvSpPr>
          <p:spPr>
            <a:xfrm>
              <a:off x="0" y="-28575"/>
              <a:ext cx="3535680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W8: Keynote deadline</a:t>
              </a:r>
            </a:p>
          </p:txBody>
        </p:sp>
      </p:grpSp>
      <p:grpSp>
        <p:nvGrpSpPr>
          <p:cNvPr id="329" name="Group 329"/>
          <p:cNvGrpSpPr/>
          <p:nvPr/>
        </p:nvGrpSpPr>
        <p:grpSpPr>
          <a:xfrm>
            <a:off x="7413112" y="4437286"/>
            <a:ext cx="2664457" cy="378457"/>
            <a:chOff x="0" y="0"/>
            <a:chExt cx="3552609" cy="504609"/>
          </a:xfrm>
        </p:grpSpPr>
        <p:sp>
          <p:nvSpPr>
            <p:cNvPr id="330" name="Freeform 330"/>
            <p:cNvSpPr/>
            <p:nvPr/>
          </p:nvSpPr>
          <p:spPr>
            <a:xfrm>
              <a:off x="8509" y="8509"/>
              <a:ext cx="3535680" cy="487680"/>
            </a:xfrm>
            <a:custGeom>
              <a:avLst/>
              <a:gdLst/>
              <a:ahLst/>
              <a:cxnLst/>
              <a:rect l="l" t="t" r="r" b="b"/>
              <a:pathLst>
                <a:path w="3535680" h="487680">
                  <a:moveTo>
                    <a:pt x="0" y="73152"/>
                  </a:moveTo>
                  <a:cubicBezTo>
                    <a:pt x="0" y="32766"/>
                    <a:pt x="33655" y="0"/>
                    <a:pt x="75311" y="0"/>
                  </a:cubicBezTo>
                  <a:lnTo>
                    <a:pt x="3460369" y="0"/>
                  </a:lnTo>
                  <a:cubicBezTo>
                    <a:pt x="3502025" y="0"/>
                    <a:pt x="3535680" y="32766"/>
                    <a:pt x="3535680" y="73152"/>
                  </a:cubicBezTo>
                  <a:lnTo>
                    <a:pt x="3535680" y="414528"/>
                  </a:lnTo>
                  <a:cubicBezTo>
                    <a:pt x="3535680" y="454914"/>
                    <a:pt x="3501898" y="487680"/>
                    <a:pt x="3460369" y="487680"/>
                  </a:cubicBezTo>
                  <a:lnTo>
                    <a:pt x="75311" y="487680"/>
                  </a:lnTo>
                  <a:cubicBezTo>
                    <a:pt x="33655" y="487680"/>
                    <a:pt x="0" y="454914"/>
                    <a:pt x="0" y="414528"/>
                  </a:cubicBezTo>
                  <a:close/>
                </a:path>
              </a:pathLst>
            </a:custGeom>
            <a:solidFill>
              <a:srgbClr val="150E0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31" name="Freeform 331"/>
            <p:cNvSpPr/>
            <p:nvPr/>
          </p:nvSpPr>
          <p:spPr>
            <a:xfrm>
              <a:off x="0" y="0"/>
              <a:ext cx="3552698" cy="504698"/>
            </a:xfrm>
            <a:custGeom>
              <a:avLst/>
              <a:gdLst/>
              <a:ahLst/>
              <a:cxnLst/>
              <a:rect l="l" t="t" r="r" b="b"/>
              <a:pathLst>
                <a:path w="3552698" h="504698">
                  <a:moveTo>
                    <a:pt x="0" y="81661"/>
                  </a:moveTo>
                  <a:cubicBezTo>
                    <a:pt x="0" y="36322"/>
                    <a:pt x="37719" y="0"/>
                    <a:pt x="83820" y="0"/>
                  </a:cubicBezTo>
                  <a:lnTo>
                    <a:pt x="3468878" y="0"/>
                  </a:lnTo>
                  <a:lnTo>
                    <a:pt x="3468878" y="8509"/>
                  </a:lnTo>
                  <a:lnTo>
                    <a:pt x="3468878" y="0"/>
                  </a:lnTo>
                  <a:cubicBezTo>
                    <a:pt x="3514979" y="0"/>
                    <a:pt x="3552698" y="36322"/>
                    <a:pt x="3552698" y="81661"/>
                  </a:cubicBezTo>
                  <a:lnTo>
                    <a:pt x="3544189" y="81661"/>
                  </a:lnTo>
                  <a:lnTo>
                    <a:pt x="3552698" y="81661"/>
                  </a:lnTo>
                  <a:lnTo>
                    <a:pt x="3552698" y="423037"/>
                  </a:lnTo>
                  <a:lnTo>
                    <a:pt x="3544189" y="423037"/>
                  </a:lnTo>
                  <a:lnTo>
                    <a:pt x="3552698" y="423037"/>
                  </a:lnTo>
                  <a:cubicBezTo>
                    <a:pt x="3552698" y="468376"/>
                    <a:pt x="3514979" y="504698"/>
                    <a:pt x="3468878" y="504698"/>
                  </a:cubicBezTo>
                  <a:lnTo>
                    <a:pt x="3468878" y="496189"/>
                  </a:lnTo>
                  <a:lnTo>
                    <a:pt x="3468878" y="504698"/>
                  </a:lnTo>
                  <a:lnTo>
                    <a:pt x="83820" y="504698"/>
                  </a:lnTo>
                  <a:lnTo>
                    <a:pt x="83820" y="496189"/>
                  </a:lnTo>
                  <a:lnTo>
                    <a:pt x="83820" y="504698"/>
                  </a:lnTo>
                  <a:cubicBezTo>
                    <a:pt x="37719" y="504698"/>
                    <a:pt x="0" y="468376"/>
                    <a:pt x="0" y="423037"/>
                  </a:cubicBezTo>
                  <a:lnTo>
                    <a:pt x="0" y="81661"/>
                  </a:lnTo>
                  <a:lnTo>
                    <a:pt x="8509" y="81661"/>
                  </a:lnTo>
                  <a:lnTo>
                    <a:pt x="0" y="81661"/>
                  </a:lnTo>
                  <a:moveTo>
                    <a:pt x="16891" y="81661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458470"/>
                    <a:pt x="46736" y="487680"/>
                    <a:pt x="83820" y="487680"/>
                  </a:cubicBezTo>
                  <a:lnTo>
                    <a:pt x="3468878" y="487680"/>
                  </a:lnTo>
                  <a:cubicBezTo>
                    <a:pt x="3506089" y="487680"/>
                    <a:pt x="3535680" y="458470"/>
                    <a:pt x="3535680" y="423037"/>
                  </a:cubicBezTo>
                  <a:lnTo>
                    <a:pt x="3535680" y="81661"/>
                  </a:lnTo>
                  <a:cubicBezTo>
                    <a:pt x="3535680" y="46228"/>
                    <a:pt x="3505962" y="17018"/>
                    <a:pt x="3468878" y="17018"/>
                  </a:cubicBezTo>
                  <a:lnTo>
                    <a:pt x="83820" y="17018"/>
                  </a:lnTo>
                  <a:lnTo>
                    <a:pt x="83820" y="8509"/>
                  </a:lnTo>
                  <a:lnTo>
                    <a:pt x="83820" y="17018"/>
                  </a:lnTo>
                  <a:cubicBezTo>
                    <a:pt x="46609" y="17018"/>
                    <a:pt x="17018" y="46228"/>
                    <a:pt x="17018" y="81661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32" name="Group 332"/>
          <p:cNvGrpSpPr/>
          <p:nvPr/>
        </p:nvGrpSpPr>
        <p:grpSpPr>
          <a:xfrm>
            <a:off x="7419465" y="4443639"/>
            <a:ext cx="2651760" cy="365760"/>
            <a:chOff x="0" y="0"/>
            <a:chExt cx="3535680" cy="487680"/>
          </a:xfrm>
        </p:grpSpPr>
        <p:sp>
          <p:nvSpPr>
            <p:cNvPr id="333" name="Freeform 333"/>
            <p:cNvSpPr/>
            <p:nvPr/>
          </p:nvSpPr>
          <p:spPr>
            <a:xfrm>
              <a:off x="0" y="0"/>
              <a:ext cx="3535680" cy="487680"/>
            </a:xfrm>
            <a:custGeom>
              <a:avLst/>
              <a:gdLst/>
              <a:ahLst/>
              <a:cxnLst/>
              <a:rect l="l" t="t" r="r" b="b"/>
              <a:pathLst>
                <a:path w="3535680" h="487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34" name="TextBox 334"/>
            <p:cNvSpPr txBox="1"/>
            <p:nvPr/>
          </p:nvSpPr>
          <p:spPr>
            <a:xfrm>
              <a:off x="0" y="-28575"/>
              <a:ext cx="3535680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W6: Asset submission</a:t>
              </a:r>
            </a:p>
          </p:txBody>
        </p:sp>
      </p:grpSp>
      <p:grpSp>
        <p:nvGrpSpPr>
          <p:cNvPr id="335" name="Group 335"/>
          <p:cNvGrpSpPr/>
          <p:nvPr/>
        </p:nvGrpSpPr>
        <p:grpSpPr>
          <a:xfrm>
            <a:off x="13507469" y="8169438"/>
            <a:ext cx="3487417" cy="378457"/>
            <a:chOff x="0" y="0"/>
            <a:chExt cx="4649889" cy="504609"/>
          </a:xfrm>
        </p:grpSpPr>
        <p:sp>
          <p:nvSpPr>
            <p:cNvPr id="336" name="Freeform 336"/>
            <p:cNvSpPr/>
            <p:nvPr/>
          </p:nvSpPr>
          <p:spPr>
            <a:xfrm>
              <a:off x="8382" y="8509"/>
              <a:ext cx="4633087" cy="487680"/>
            </a:xfrm>
            <a:custGeom>
              <a:avLst/>
              <a:gdLst/>
              <a:ahLst/>
              <a:cxnLst/>
              <a:rect l="l" t="t" r="r" b="b"/>
              <a:pathLst>
                <a:path w="4633087" h="487680">
                  <a:moveTo>
                    <a:pt x="127" y="73152"/>
                  </a:moveTo>
                  <a:cubicBezTo>
                    <a:pt x="127" y="32766"/>
                    <a:pt x="33909" y="0"/>
                    <a:pt x="75438" y="0"/>
                  </a:cubicBezTo>
                  <a:lnTo>
                    <a:pt x="4557649" y="0"/>
                  </a:lnTo>
                  <a:cubicBezTo>
                    <a:pt x="4599305" y="0"/>
                    <a:pt x="4633087" y="32766"/>
                    <a:pt x="4633087" y="73152"/>
                  </a:cubicBezTo>
                  <a:lnTo>
                    <a:pt x="4633087" y="414528"/>
                  </a:lnTo>
                  <a:cubicBezTo>
                    <a:pt x="4633087" y="454914"/>
                    <a:pt x="4599305" y="487680"/>
                    <a:pt x="4557649" y="487680"/>
                  </a:cubicBezTo>
                  <a:lnTo>
                    <a:pt x="75438" y="487680"/>
                  </a:lnTo>
                  <a:cubicBezTo>
                    <a:pt x="33782" y="487680"/>
                    <a:pt x="0" y="454914"/>
                    <a:pt x="0" y="414528"/>
                  </a:cubicBezTo>
                  <a:close/>
                </a:path>
              </a:pathLst>
            </a:custGeom>
            <a:solidFill>
              <a:srgbClr val="15080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37" name="Freeform 337"/>
            <p:cNvSpPr/>
            <p:nvPr/>
          </p:nvSpPr>
          <p:spPr>
            <a:xfrm>
              <a:off x="0" y="0"/>
              <a:ext cx="4649851" cy="504698"/>
            </a:xfrm>
            <a:custGeom>
              <a:avLst/>
              <a:gdLst/>
              <a:ahLst/>
              <a:cxnLst/>
              <a:rect l="l" t="t" r="r" b="b"/>
              <a:pathLst>
                <a:path w="4649851" h="504698">
                  <a:moveTo>
                    <a:pt x="0" y="81661"/>
                  </a:moveTo>
                  <a:cubicBezTo>
                    <a:pt x="0" y="36322"/>
                    <a:pt x="37846" y="0"/>
                    <a:pt x="83820" y="0"/>
                  </a:cubicBezTo>
                  <a:lnTo>
                    <a:pt x="4566031" y="0"/>
                  </a:lnTo>
                  <a:lnTo>
                    <a:pt x="4566031" y="8509"/>
                  </a:lnTo>
                  <a:lnTo>
                    <a:pt x="4566031" y="0"/>
                  </a:lnTo>
                  <a:cubicBezTo>
                    <a:pt x="4612132" y="0"/>
                    <a:pt x="4649851" y="36322"/>
                    <a:pt x="4649851" y="81661"/>
                  </a:cubicBezTo>
                  <a:lnTo>
                    <a:pt x="4641342" y="81661"/>
                  </a:lnTo>
                  <a:lnTo>
                    <a:pt x="4649851" y="81661"/>
                  </a:lnTo>
                  <a:lnTo>
                    <a:pt x="4649851" y="423037"/>
                  </a:lnTo>
                  <a:lnTo>
                    <a:pt x="4641342" y="423037"/>
                  </a:lnTo>
                  <a:lnTo>
                    <a:pt x="4649851" y="423037"/>
                  </a:lnTo>
                  <a:cubicBezTo>
                    <a:pt x="4649851" y="468376"/>
                    <a:pt x="4612005" y="504698"/>
                    <a:pt x="4566031" y="504698"/>
                  </a:cubicBezTo>
                  <a:lnTo>
                    <a:pt x="4566031" y="496189"/>
                  </a:lnTo>
                  <a:lnTo>
                    <a:pt x="4566031" y="504698"/>
                  </a:lnTo>
                  <a:lnTo>
                    <a:pt x="83820" y="504698"/>
                  </a:lnTo>
                  <a:lnTo>
                    <a:pt x="83820" y="496189"/>
                  </a:lnTo>
                  <a:lnTo>
                    <a:pt x="83820" y="504698"/>
                  </a:lnTo>
                  <a:cubicBezTo>
                    <a:pt x="37719" y="504698"/>
                    <a:pt x="0" y="468376"/>
                    <a:pt x="0" y="423037"/>
                  </a:cubicBezTo>
                  <a:lnTo>
                    <a:pt x="0" y="81661"/>
                  </a:lnTo>
                  <a:lnTo>
                    <a:pt x="8509" y="81661"/>
                  </a:lnTo>
                  <a:lnTo>
                    <a:pt x="0" y="81661"/>
                  </a:lnTo>
                  <a:moveTo>
                    <a:pt x="16891" y="81661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458470"/>
                    <a:pt x="46736" y="487680"/>
                    <a:pt x="83947" y="487680"/>
                  </a:cubicBezTo>
                  <a:lnTo>
                    <a:pt x="4566031" y="487680"/>
                  </a:lnTo>
                  <a:cubicBezTo>
                    <a:pt x="4603242" y="487680"/>
                    <a:pt x="4632960" y="458470"/>
                    <a:pt x="4632960" y="423037"/>
                  </a:cubicBezTo>
                  <a:lnTo>
                    <a:pt x="4632960" y="81661"/>
                  </a:lnTo>
                  <a:cubicBezTo>
                    <a:pt x="4632960" y="46228"/>
                    <a:pt x="4603242" y="17018"/>
                    <a:pt x="4566031" y="17018"/>
                  </a:cubicBezTo>
                  <a:lnTo>
                    <a:pt x="83820" y="17018"/>
                  </a:lnTo>
                  <a:lnTo>
                    <a:pt x="83820" y="8509"/>
                  </a:lnTo>
                  <a:lnTo>
                    <a:pt x="83820" y="17018"/>
                  </a:lnTo>
                  <a:cubicBezTo>
                    <a:pt x="46609" y="17018"/>
                    <a:pt x="16891" y="46228"/>
                    <a:pt x="16891" y="81661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38" name="Group 338"/>
          <p:cNvGrpSpPr/>
          <p:nvPr/>
        </p:nvGrpSpPr>
        <p:grpSpPr>
          <a:xfrm>
            <a:off x="13513822" y="8175791"/>
            <a:ext cx="3474720" cy="365760"/>
            <a:chOff x="0" y="0"/>
            <a:chExt cx="4632960" cy="487680"/>
          </a:xfrm>
        </p:grpSpPr>
        <p:sp>
          <p:nvSpPr>
            <p:cNvPr id="339" name="Freeform 339"/>
            <p:cNvSpPr/>
            <p:nvPr/>
          </p:nvSpPr>
          <p:spPr>
            <a:xfrm>
              <a:off x="0" y="0"/>
              <a:ext cx="4632960" cy="487680"/>
            </a:xfrm>
            <a:custGeom>
              <a:avLst/>
              <a:gdLst/>
              <a:ahLst/>
              <a:cxnLst/>
              <a:rect l="l" t="t" r="r" b="b"/>
              <a:pathLst>
                <a:path w="4632960" h="487680">
                  <a:moveTo>
                    <a:pt x="0" y="0"/>
                  </a:moveTo>
                  <a:lnTo>
                    <a:pt x="4632960" y="0"/>
                  </a:lnTo>
                  <a:lnTo>
                    <a:pt x="4632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107" b="-13510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40" name="TextBox 340"/>
            <p:cNvSpPr txBox="1"/>
            <p:nvPr/>
          </p:nvSpPr>
          <p:spPr>
            <a:xfrm>
              <a:off x="0" y="-28575"/>
              <a:ext cx="4632960" cy="516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D1: 15-min announcement sequence</a:t>
              </a:r>
            </a:p>
          </p:txBody>
        </p:sp>
      </p:grpSp>
      <p:grpSp>
        <p:nvGrpSpPr>
          <p:cNvPr id="343" name="Group 343"/>
          <p:cNvGrpSpPr/>
          <p:nvPr/>
        </p:nvGrpSpPr>
        <p:grpSpPr>
          <a:xfrm>
            <a:off x="17337786" y="8204747"/>
            <a:ext cx="336804" cy="336804"/>
            <a:chOff x="0" y="0"/>
            <a:chExt cx="449072" cy="449072"/>
          </a:xfrm>
        </p:grpSpPr>
        <p:sp>
          <p:nvSpPr>
            <p:cNvPr id="344" name="Freeform 344"/>
            <p:cNvSpPr/>
            <p:nvPr/>
          </p:nvSpPr>
          <p:spPr>
            <a:xfrm>
              <a:off x="5080" y="508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45" name="Freeform 345"/>
            <p:cNvSpPr/>
            <p:nvPr/>
          </p:nvSpPr>
          <p:spPr>
            <a:xfrm>
              <a:off x="0" y="0"/>
              <a:ext cx="449072" cy="449072"/>
            </a:xfrm>
            <a:custGeom>
              <a:avLst/>
              <a:gdLst/>
              <a:ahLst/>
              <a:cxnLst/>
              <a:rect l="l" t="t" r="r" b="b"/>
              <a:pathLst>
                <a:path w="449072" h="449072">
                  <a:moveTo>
                    <a:pt x="0" y="224536"/>
                  </a:moveTo>
                  <a:cubicBezTo>
                    <a:pt x="0" y="100584"/>
                    <a:pt x="100584" y="0"/>
                    <a:pt x="224536" y="0"/>
                  </a:cubicBezTo>
                  <a:lnTo>
                    <a:pt x="224536" y="5080"/>
                  </a:lnTo>
                  <a:lnTo>
                    <a:pt x="224536" y="0"/>
                  </a:lnTo>
                  <a:cubicBezTo>
                    <a:pt x="348488" y="0"/>
                    <a:pt x="449072" y="100584"/>
                    <a:pt x="449072" y="224536"/>
                  </a:cubicBezTo>
                  <a:lnTo>
                    <a:pt x="443992" y="224536"/>
                  </a:lnTo>
                  <a:lnTo>
                    <a:pt x="449072" y="224536"/>
                  </a:lnTo>
                  <a:cubicBezTo>
                    <a:pt x="449072" y="348488"/>
                    <a:pt x="348488" y="449072"/>
                    <a:pt x="224536" y="449072"/>
                  </a:cubicBezTo>
                  <a:lnTo>
                    <a:pt x="224536" y="443992"/>
                  </a:lnTo>
                  <a:lnTo>
                    <a:pt x="224536" y="449072"/>
                  </a:lnTo>
                  <a:cubicBezTo>
                    <a:pt x="100584" y="449072"/>
                    <a:pt x="0" y="348488"/>
                    <a:pt x="0" y="224536"/>
                  </a:cubicBezTo>
                  <a:lnTo>
                    <a:pt x="5080" y="224536"/>
                  </a:lnTo>
                  <a:lnTo>
                    <a:pt x="9398" y="227203"/>
                  </a:lnTo>
                  <a:cubicBezTo>
                    <a:pt x="8128" y="229108"/>
                    <a:pt x="5842" y="229997"/>
                    <a:pt x="3683" y="229362"/>
                  </a:cubicBezTo>
                  <a:cubicBezTo>
                    <a:pt x="1524" y="228727"/>
                    <a:pt x="0" y="226822"/>
                    <a:pt x="0" y="224536"/>
                  </a:cubicBezTo>
                  <a:moveTo>
                    <a:pt x="10160" y="224536"/>
                  </a:moveTo>
                  <a:lnTo>
                    <a:pt x="5080" y="224536"/>
                  </a:lnTo>
                  <a:lnTo>
                    <a:pt x="762" y="221869"/>
                  </a:lnTo>
                  <a:cubicBezTo>
                    <a:pt x="2032" y="219964"/>
                    <a:pt x="4318" y="219075"/>
                    <a:pt x="6477" y="219710"/>
                  </a:cubicBezTo>
                  <a:cubicBezTo>
                    <a:pt x="8636" y="220345"/>
                    <a:pt x="10160" y="222377"/>
                    <a:pt x="10160" y="224536"/>
                  </a:cubicBezTo>
                  <a:cubicBezTo>
                    <a:pt x="10160" y="342900"/>
                    <a:pt x="106172" y="438912"/>
                    <a:pt x="224536" y="438912"/>
                  </a:cubicBezTo>
                  <a:cubicBezTo>
                    <a:pt x="342900" y="438912"/>
                    <a:pt x="438912" y="342900"/>
                    <a:pt x="438912" y="224536"/>
                  </a:cubicBezTo>
                  <a:cubicBezTo>
                    <a:pt x="438912" y="106172"/>
                    <a:pt x="342900" y="10160"/>
                    <a:pt x="224536" y="10160"/>
                  </a:cubicBezTo>
                  <a:lnTo>
                    <a:pt x="224536" y="5080"/>
                  </a:lnTo>
                  <a:lnTo>
                    <a:pt x="224536" y="10160"/>
                  </a:lnTo>
                  <a:cubicBezTo>
                    <a:pt x="106172" y="10160"/>
                    <a:pt x="10160" y="106172"/>
                    <a:pt x="10160" y="224536"/>
                  </a:cubicBez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46" name="Group 346"/>
          <p:cNvGrpSpPr/>
          <p:nvPr/>
        </p:nvGrpSpPr>
        <p:grpSpPr>
          <a:xfrm>
            <a:off x="9446359" y="9059930"/>
            <a:ext cx="3906175" cy="788920"/>
            <a:chOff x="0" y="0"/>
            <a:chExt cx="1266038" cy="255698"/>
          </a:xfrm>
        </p:grpSpPr>
        <p:sp>
          <p:nvSpPr>
            <p:cNvPr id="347" name="Freeform 347"/>
            <p:cNvSpPr/>
            <p:nvPr/>
          </p:nvSpPr>
          <p:spPr>
            <a:xfrm>
              <a:off x="0" y="0"/>
              <a:ext cx="1266038" cy="255698"/>
            </a:xfrm>
            <a:custGeom>
              <a:avLst/>
              <a:gdLst/>
              <a:ahLst/>
              <a:cxnLst/>
              <a:rect l="l" t="t" r="r" b="b"/>
              <a:pathLst>
                <a:path w="1266038" h="255698">
                  <a:moveTo>
                    <a:pt x="101080" y="0"/>
                  </a:moveTo>
                  <a:lnTo>
                    <a:pt x="1164957" y="0"/>
                  </a:lnTo>
                  <a:cubicBezTo>
                    <a:pt x="1220783" y="0"/>
                    <a:pt x="1266038" y="45255"/>
                    <a:pt x="1266038" y="101080"/>
                  </a:cubicBezTo>
                  <a:lnTo>
                    <a:pt x="1266038" y="154618"/>
                  </a:lnTo>
                  <a:cubicBezTo>
                    <a:pt x="1266038" y="210443"/>
                    <a:pt x="1220783" y="255698"/>
                    <a:pt x="1164957" y="255698"/>
                  </a:cubicBezTo>
                  <a:lnTo>
                    <a:pt x="101080" y="255698"/>
                  </a:lnTo>
                  <a:cubicBezTo>
                    <a:pt x="45255" y="255698"/>
                    <a:pt x="0" y="210443"/>
                    <a:pt x="0" y="154618"/>
                  </a:cubicBezTo>
                  <a:lnTo>
                    <a:pt x="0" y="101080"/>
                  </a:lnTo>
                  <a:cubicBezTo>
                    <a:pt x="0" y="45255"/>
                    <a:pt x="45255" y="0"/>
                    <a:pt x="101080" y="0"/>
                  </a:cubicBezTo>
                  <a:close/>
                </a:path>
              </a:pathLst>
            </a:custGeom>
            <a:solidFill>
              <a:srgbClr val="007A4D"/>
            </a:solidFill>
            <a:ln w="19050" cap="rnd">
              <a:solidFill>
                <a:srgbClr val="0A0E1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48" name="TextBox 348"/>
            <p:cNvSpPr txBox="1"/>
            <p:nvPr/>
          </p:nvSpPr>
          <p:spPr>
            <a:xfrm>
              <a:off x="0" y="28575"/>
              <a:ext cx="1266038" cy="227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r>
                <a:rPr lang="en-US" sz="2609" u="sng" spc="-19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tamara-casestudy.vercel.app/Framework_2_RACI_Master_Template.html"/>
                </a:rPr>
                <a:t>R /A /C /I  Matrix</a:t>
              </a:r>
            </a:p>
          </p:txBody>
        </p:sp>
      </p:grpSp>
      <p:grpSp>
        <p:nvGrpSpPr>
          <p:cNvPr id="349" name="Group 349"/>
          <p:cNvGrpSpPr/>
          <p:nvPr/>
        </p:nvGrpSpPr>
        <p:grpSpPr>
          <a:xfrm>
            <a:off x="4922528" y="9059930"/>
            <a:ext cx="3906175" cy="788920"/>
            <a:chOff x="0" y="0"/>
            <a:chExt cx="1266038" cy="255698"/>
          </a:xfrm>
        </p:grpSpPr>
        <p:sp>
          <p:nvSpPr>
            <p:cNvPr id="350" name="Freeform 350"/>
            <p:cNvSpPr/>
            <p:nvPr/>
          </p:nvSpPr>
          <p:spPr>
            <a:xfrm>
              <a:off x="0" y="0"/>
              <a:ext cx="1266038" cy="255698"/>
            </a:xfrm>
            <a:custGeom>
              <a:avLst/>
              <a:gdLst/>
              <a:ahLst/>
              <a:cxnLst/>
              <a:rect l="l" t="t" r="r" b="b"/>
              <a:pathLst>
                <a:path w="1266038" h="255698">
                  <a:moveTo>
                    <a:pt x="101080" y="0"/>
                  </a:moveTo>
                  <a:lnTo>
                    <a:pt x="1164957" y="0"/>
                  </a:lnTo>
                  <a:cubicBezTo>
                    <a:pt x="1220783" y="0"/>
                    <a:pt x="1266038" y="45255"/>
                    <a:pt x="1266038" y="101080"/>
                  </a:cubicBezTo>
                  <a:lnTo>
                    <a:pt x="1266038" y="154618"/>
                  </a:lnTo>
                  <a:cubicBezTo>
                    <a:pt x="1266038" y="210443"/>
                    <a:pt x="1220783" y="255698"/>
                    <a:pt x="1164957" y="255698"/>
                  </a:cubicBezTo>
                  <a:lnTo>
                    <a:pt x="101080" y="255698"/>
                  </a:lnTo>
                  <a:cubicBezTo>
                    <a:pt x="45255" y="255698"/>
                    <a:pt x="0" y="210443"/>
                    <a:pt x="0" y="154618"/>
                  </a:cubicBezTo>
                  <a:lnTo>
                    <a:pt x="0" y="101080"/>
                  </a:lnTo>
                  <a:cubicBezTo>
                    <a:pt x="0" y="45255"/>
                    <a:pt x="45255" y="0"/>
                    <a:pt x="101080" y="0"/>
                  </a:cubicBezTo>
                  <a:close/>
                </a:path>
              </a:pathLst>
            </a:custGeom>
            <a:solidFill>
              <a:srgbClr val="007A4D"/>
            </a:solidFill>
            <a:ln w="19050" cap="rnd">
              <a:solidFill>
                <a:srgbClr val="0A0E1A"/>
              </a:solidFill>
              <a:prstDash val="solid"/>
              <a:round/>
            </a:ln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351" name="TextBox 351"/>
            <p:cNvSpPr txBox="1"/>
            <p:nvPr/>
          </p:nvSpPr>
          <p:spPr>
            <a:xfrm>
              <a:off x="0" y="28575"/>
              <a:ext cx="1266038" cy="227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r>
                <a:rPr lang="en-US" sz="2609" u="sng" spc="-19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tamara-casestudy.vercel.app/Framework_3_12Week_Timeline_Template.html"/>
                </a:rPr>
                <a:t>Project Master Timeline </a:t>
              </a:r>
            </a:p>
          </p:txBody>
        </p:sp>
      </p:grpSp>
      <p:sp>
        <p:nvSpPr>
          <p:cNvPr id="352" name="Freeform 352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53" name="Freeform 353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54" name="Freeform 354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55" name="TextBox 355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443" b="1" spc="-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087" y="682676"/>
            <a:ext cx="16459200" cy="925144"/>
            <a:chOff x="0" y="0"/>
            <a:chExt cx="21945600" cy="1233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233526"/>
            </a:xfrm>
            <a:custGeom>
              <a:avLst/>
              <a:gdLst/>
              <a:ahLst/>
              <a:cxnLst/>
              <a:rect l="l" t="t" r="r" b="b"/>
              <a:pathLst>
                <a:path w="21945600" h="1233526">
                  <a:moveTo>
                    <a:pt x="0" y="0"/>
                  </a:moveTo>
                  <a:lnTo>
                    <a:pt x="21945600" y="0"/>
                  </a:lnTo>
                  <a:lnTo>
                    <a:pt x="21945600" y="1233526"/>
                  </a:lnTo>
                  <a:lnTo>
                    <a:pt x="0" y="12335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9098" b="-28421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243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dirty="0">
                  <a:solidFill>
                    <a:srgbClr val="F5F7F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EVENT EXECUTION STRATEGY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19432" y="1588132"/>
            <a:ext cx="20317" cy="8286493"/>
            <a:chOff x="0" y="0"/>
            <a:chExt cx="27089" cy="11048657"/>
          </a:xfrm>
        </p:grpSpPr>
        <p:sp>
          <p:nvSpPr>
            <p:cNvPr id="6" name="Freeform 6"/>
            <p:cNvSpPr/>
            <p:nvPr/>
          </p:nvSpPr>
          <p:spPr>
            <a:xfrm>
              <a:off x="0" y="13589"/>
              <a:ext cx="27051" cy="11021568"/>
            </a:xfrm>
            <a:custGeom>
              <a:avLst/>
              <a:gdLst/>
              <a:ahLst/>
              <a:cxnLst/>
              <a:rect l="l" t="t" r="r" b="b"/>
              <a:pathLst>
                <a:path w="27051" h="11021568">
                  <a:moveTo>
                    <a:pt x="27051" y="0"/>
                  </a:moveTo>
                  <a:lnTo>
                    <a:pt x="27051" y="11021568"/>
                  </a:lnTo>
                  <a:lnTo>
                    <a:pt x="0" y="11021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4498" y="1585598"/>
            <a:ext cx="7523483" cy="537467"/>
            <a:chOff x="0" y="0"/>
            <a:chExt cx="10031311" cy="716623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9997440" cy="682752"/>
            </a:xfrm>
            <a:custGeom>
              <a:avLst/>
              <a:gdLst/>
              <a:ahLst/>
              <a:cxnLst/>
              <a:rect l="l" t="t" r="r" b="b"/>
              <a:pathLst>
                <a:path w="9997440" h="682752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0031222" cy="716536"/>
            </a:xfrm>
            <a:custGeom>
              <a:avLst/>
              <a:gdLst/>
              <a:ahLst/>
              <a:cxnLst/>
              <a:rect l="l" t="t" r="r" b="b"/>
              <a:pathLst>
                <a:path w="10031222" h="716536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699643"/>
                  </a:lnTo>
                  <a:cubicBezTo>
                    <a:pt x="10031222" y="709041"/>
                    <a:pt x="10023602" y="716534"/>
                    <a:pt x="100143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0014331" y="682752"/>
                  </a:lnTo>
                  <a:lnTo>
                    <a:pt x="10014331" y="699643"/>
                  </a:lnTo>
                  <a:lnTo>
                    <a:pt x="9997440" y="699643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195" y="1598295"/>
            <a:ext cx="7498080" cy="512064"/>
            <a:chOff x="0" y="0"/>
            <a:chExt cx="9997440" cy="6827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97440" cy="682752"/>
            </a:xfrm>
            <a:custGeom>
              <a:avLst/>
              <a:gdLst/>
              <a:ahLst/>
              <a:cxnLst/>
              <a:rect l="l" t="t" r="r" b="b"/>
              <a:pathLst>
                <a:path w="9997440" h="682752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316" b="-23531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 CHECKLIST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0842" y="2140582"/>
            <a:ext cx="7510777" cy="7730233"/>
            <a:chOff x="0" y="0"/>
            <a:chExt cx="10014369" cy="10306977"/>
          </a:xfrm>
        </p:grpSpPr>
        <p:sp>
          <p:nvSpPr>
            <p:cNvPr id="14" name="Freeform 14"/>
            <p:cNvSpPr/>
            <p:nvPr/>
          </p:nvSpPr>
          <p:spPr>
            <a:xfrm>
              <a:off x="8509" y="8509"/>
              <a:ext cx="9997440" cy="10290048"/>
            </a:xfrm>
            <a:custGeom>
              <a:avLst/>
              <a:gdLst/>
              <a:ahLst/>
              <a:cxnLst/>
              <a:rect l="l" t="t" r="r" b="b"/>
              <a:pathLst>
                <a:path w="9997440" h="10290048">
                  <a:moveTo>
                    <a:pt x="0" y="0"/>
                  </a:moveTo>
                  <a:lnTo>
                    <a:pt x="9997440" y="0"/>
                  </a:lnTo>
                  <a:lnTo>
                    <a:pt x="9997440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0014458" cy="10307065"/>
            </a:xfrm>
            <a:custGeom>
              <a:avLst/>
              <a:gdLst/>
              <a:ahLst/>
              <a:cxnLst/>
              <a:rect l="l" t="t" r="r" b="b"/>
              <a:pathLst>
                <a:path w="10014458" h="10307065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0298557"/>
                  </a:lnTo>
                  <a:cubicBezTo>
                    <a:pt x="10014458" y="10303256"/>
                    <a:pt x="10010648" y="10307065"/>
                    <a:pt x="10005949" y="10307065"/>
                  </a:cubicBezTo>
                  <a:lnTo>
                    <a:pt x="8509" y="10307065"/>
                  </a:lnTo>
                  <a:cubicBezTo>
                    <a:pt x="3810" y="10307065"/>
                    <a:pt x="0" y="10303256"/>
                    <a:pt x="0" y="10298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298557"/>
                  </a:lnTo>
                  <a:lnTo>
                    <a:pt x="8509" y="10298557"/>
                  </a:lnTo>
                  <a:lnTo>
                    <a:pt x="8509" y="10290048"/>
                  </a:lnTo>
                  <a:lnTo>
                    <a:pt x="10005949" y="10290048"/>
                  </a:lnTo>
                  <a:lnTo>
                    <a:pt x="10005949" y="10298557"/>
                  </a:lnTo>
                  <a:lnTo>
                    <a:pt x="9997440" y="1029855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6834" y="2682878"/>
            <a:ext cx="226571" cy="226571"/>
            <a:chOff x="0" y="0"/>
            <a:chExt cx="302095" cy="302095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25291" y="2439543"/>
            <a:ext cx="6492240" cy="694944"/>
            <a:chOff x="0" y="0"/>
            <a:chExt cx="865632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announcement with CEO on stage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2569" y="3222117"/>
            <a:ext cx="6957060" cy="7620"/>
            <a:chOff x="0" y="0"/>
            <a:chExt cx="9276080" cy="10160"/>
          </a:xfrm>
        </p:grpSpPr>
        <p:sp>
          <p:nvSpPr>
            <p:cNvPr id="23" name="Freeform 23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6834" y="3578990"/>
            <a:ext cx="226571" cy="226571"/>
            <a:chOff x="0" y="0"/>
            <a:chExt cx="302095" cy="302095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5291" y="3335655"/>
            <a:ext cx="6492240" cy="694944"/>
            <a:chOff x="0" y="0"/>
            <a:chExt cx="865632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 coverage active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2569" y="4118229"/>
            <a:ext cx="6957060" cy="7620"/>
            <a:chOff x="0" y="0"/>
            <a:chExt cx="9276080" cy="10160"/>
          </a:xfrm>
        </p:grpSpPr>
        <p:sp>
          <p:nvSpPr>
            <p:cNvPr id="31" name="Freeform 31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46834" y="4475102"/>
            <a:ext cx="226571" cy="226571"/>
            <a:chOff x="0" y="0"/>
            <a:chExt cx="302095" cy="302095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25291" y="4231767"/>
            <a:ext cx="6492240" cy="694944"/>
            <a:chOff x="0" y="0"/>
            <a:chExt cx="865632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CEO &amp; Tamara LinkedIn post live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2569" y="5014341"/>
            <a:ext cx="6957060" cy="7620"/>
            <a:chOff x="0" y="0"/>
            <a:chExt cx="9276080" cy="10160"/>
          </a:xfrm>
        </p:grpSpPr>
        <p:sp>
          <p:nvSpPr>
            <p:cNvPr id="39" name="Freeform 39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46834" y="5371214"/>
            <a:ext cx="226571" cy="226571"/>
            <a:chOff x="0" y="0"/>
            <a:chExt cx="302095" cy="302095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25291" y="5127879"/>
            <a:ext cx="6492240" cy="694944"/>
            <a:chOff x="0" y="0"/>
            <a:chExt cx="8656320" cy="9265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Booth operational — AV, demo, staff positioned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82569" y="5910453"/>
            <a:ext cx="6957060" cy="7620"/>
            <a:chOff x="0" y="0"/>
            <a:chExt cx="9276080" cy="10160"/>
          </a:xfrm>
        </p:grpSpPr>
        <p:sp>
          <p:nvSpPr>
            <p:cNvPr id="47" name="Freeform 47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6834" y="6267326"/>
            <a:ext cx="226571" cy="226571"/>
            <a:chOff x="0" y="0"/>
            <a:chExt cx="302095" cy="302095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25291" y="6023991"/>
            <a:ext cx="6492240" cy="694944"/>
            <a:chOff x="0" y="0"/>
            <a:chExt cx="8656320" cy="926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Pre-scheduled meetings confirmed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2569" y="6806565"/>
            <a:ext cx="6957060" cy="7620"/>
            <a:chOff x="0" y="0"/>
            <a:chExt cx="9276080" cy="10160"/>
          </a:xfrm>
        </p:grpSpPr>
        <p:sp>
          <p:nvSpPr>
            <p:cNvPr id="55" name="Freeform 55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46834" y="7163438"/>
            <a:ext cx="226571" cy="226571"/>
            <a:chOff x="0" y="0"/>
            <a:chExt cx="302095" cy="302095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25291" y="6920103"/>
            <a:ext cx="6492240" cy="694944"/>
            <a:chOff x="0" y="0"/>
            <a:chExt cx="8656320" cy="9265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CRM entries up to date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82569" y="7702677"/>
            <a:ext cx="6957060" cy="7620"/>
            <a:chOff x="0" y="0"/>
            <a:chExt cx="9276080" cy="10160"/>
          </a:xfrm>
        </p:grpSpPr>
        <p:sp>
          <p:nvSpPr>
            <p:cNvPr id="63" name="Freeform 63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46834" y="8059550"/>
            <a:ext cx="226571" cy="226571"/>
            <a:chOff x="0" y="0"/>
            <a:chExt cx="302095" cy="302095"/>
          </a:xfrm>
        </p:grpSpPr>
        <p:sp>
          <p:nvSpPr>
            <p:cNvPr id="65" name="Freeform 65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25291" y="7816215"/>
            <a:ext cx="6492240" cy="694944"/>
            <a:chOff x="0" y="0"/>
            <a:chExt cx="8656320" cy="9265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Founding Partner deliverables activated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82569" y="8598789"/>
            <a:ext cx="6957060" cy="7620"/>
            <a:chOff x="0" y="0"/>
            <a:chExt cx="9276080" cy="10160"/>
          </a:xfrm>
        </p:grpSpPr>
        <p:sp>
          <p:nvSpPr>
            <p:cNvPr id="71" name="Freeform 71"/>
            <p:cNvSpPr/>
            <p:nvPr/>
          </p:nvSpPr>
          <p:spPr>
            <a:xfrm>
              <a:off x="5080" y="0"/>
              <a:ext cx="9265920" cy="10160"/>
            </a:xfrm>
            <a:custGeom>
              <a:avLst/>
              <a:gdLst/>
              <a:ahLst/>
              <a:cxnLst/>
              <a:rect l="l" t="t" r="r" b="b"/>
              <a:pathLst>
                <a:path w="9265920" h="10160">
                  <a:moveTo>
                    <a:pt x="0" y="0"/>
                  </a:moveTo>
                  <a:lnTo>
                    <a:pt x="9265920" y="0"/>
                  </a:lnTo>
                  <a:lnTo>
                    <a:pt x="926592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46834" y="8955662"/>
            <a:ext cx="226571" cy="226571"/>
            <a:chOff x="0" y="0"/>
            <a:chExt cx="302095" cy="302095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268224" cy="268224"/>
            </a:xfrm>
            <a:custGeom>
              <a:avLst/>
              <a:gdLst/>
              <a:ahLst/>
              <a:cxnLst/>
              <a:rect l="l" t="t" r="r" b="b"/>
              <a:pathLst>
                <a:path w="268224" h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280" y="268224"/>
                    <a:pt x="134112" y="268224"/>
                  </a:cubicBezTo>
                  <a:cubicBezTo>
                    <a:pt x="59944" y="268224"/>
                    <a:pt x="0" y="208280"/>
                    <a:pt x="0" y="134112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74"/>
            <p:cNvSpPr/>
            <p:nvPr/>
          </p:nvSpPr>
          <p:spPr>
            <a:xfrm>
              <a:off x="0" y="0"/>
              <a:ext cx="302006" cy="302006"/>
            </a:xfrm>
            <a:custGeom>
              <a:avLst/>
              <a:gdLst/>
              <a:ahLst/>
              <a:cxnLst/>
              <a:rect l="l" t="t" r="r" b="b"/>
              <a:pathLst>
                <a:path w="302006" h="302006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51003" y="16891"/>
                  </a:lnTo>
                  <a:lnTo>
                    <a:pt x="151003" y="0"/>
                  </a:lnTo>
                  <a:cubicBezTo>
                    <a:pt x="234442" y="0"/>
                    <a:pt x="302006" y="67564"/>
                    <a:pt x="302006" y="151003"/>
                  </a:cubicBezTo>
                  <a:lnTo>
                    <a:pt x="285115" y="151003"/>
                  </a:lnTo>
                  <a:lnTo>
                    <a:pt x="302006" y="151003"/>
                  </a:lnTo>
                  <a:cubicBezTo>
                    <a:pt x="302006" y="234442"/>
                    <a:pt x="234442" y="302006"/>
                    <a:pt x="151003" y="302006"/>
                  </a:cubicBezTo>
                  <a:lnTo>
                    <a:pt x="151003" y="285115"/>
                  </a:lnTo>
                  <a:lnTo>
                    <a:pt x="151003" y="302006"/>
                  </a:lnTo>
                  <a:cubicBezTo>
                    <a:pt x="67564" y="302133"/>
                    <a:pt x="0" y="234442"/>
                    <a:pt x="0" y="151003"/>
                  </a:cubicBezTo>
                  <a:lnTo>
                    <a:pt x="16891" y="151003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0" y="151003"/>
                  </a:lnTo>
                  <a:moveTo>
                    <a:pt x="33909" y="151003"/>
                  </a:moveTo>
                  <a:cubicBezTo>
                    <a:pt x="33909" y="160401"/>
                    <a:pt x="26289" y="167894"/>
                    <a:pt x="17018" y="167894"/>
                  </a:cubicBezTo>
                  <a:cubicBezTo>
                    <a:pt x="7747" y="167894"/>
                    <a:pt x="0" y="160401"/>
                    <a:pt x="0" y="151003"/>
                  </a:cubicBezTo>
                  <a:cubicBezTo>
                    <a:pt x="0" y="141605"/>
                    <a:pt x="7620" y="134112"/>
                    <a:pt x="16891" y="134112"/>
                  </a:cubicBezTo>
                  <a:cubicBezTo>
                    <a:pt x="26162" y="134112"/>
                    <a:pt x="33782" y="141732"/>
                    <a:pt x="33782" y="151003"/>
                  </a:cubicBezTo>
                  <a:cubicBezTo>
                    <a:pt x="33782" y="215773"/>
                    <a:pt x="86233" y="268224"/>
                    <a:pt x="151003" y="268224"/>
                  </a:cubicBezTo>
                  <a:cubicBezTo>
                    <a:pt x="215773" y="268224"/>
                    <a:pt x="268224" y="215773"/>
                    <a:pt x="268224" y="151003"/>
                  </a:cubicBezTo>
                  <a:cubicBezTo>
                    <a:pt x="268224" y="86233"/>
                    <a:pt x="215773" y="33782"/>
                    <a:pt x="151003" y="33782"/>
                  </a:cubicBezTo>
                  <a:lnTo>
                    <a:pt x="151003" y="16891"/>
                  </a:lnTo>
                  <a:lnTo>
                    <a:pt x="151003" y="33909"/>
                  </a:lnTo>
                  <a:cubicBezTo>
                    <a:pt x="86233" y="33909"/>
                    <a:pt x="33782" y="86360"/>
                    <a:pt x="33782" y="151130"/>
                  </a:cubicBez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25291" y="8712327"/>
            <a:ext cx="6492240" cy="694944"/>
            <a:chOff x="0" y="0"/>
            <a:chExt cx="8656320" cy="9265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656320" cy="926592"/>
            </a:xfrm>
            <a:custGeom>
              <a:avLst/>
              <a:gdLst/>
              <a:ahLst/>
              <a:cxnLst/>
              <a:rect l="l" t="t" r="r" b="b"/>
              <a:pathLst>
                <a:path w="8656320" h="926592">
                  <a:moveTo>
                    <a:pt x="0" y="0"/>
                  </a:moveTo>
                  <a:lnTo>
                    <a:pt x="8656320" y="0"/>
                  </a:lnTo>
                  <a:lnTo>
                    <a:pt x="8656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031" b="-13203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865632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debrief confirmed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491218" y="1585598"/>
            <a:ext cx="9352283" cy="537467"/>
            <a:chOff x="0" y="0"/>
            <a:chExt cx="12469711" cy="716623"/>
          </a:xfrm>
        </p:grpSpPr>
        <p:sp>
          <p:nvSpPr>
            <p:cNvPr id="79" name="Freeform 79"/>
            <p:cNvSpPr/>
            <p:nvPr/>
          </p:nvSpPr>
          <p:spPr>
            <a:xfrm>
              <a:off x="16891" y="16891"/>
              <a:ext cx="12435840" cy="682752"/>
            </a:xfrm>
            <a:custGeom>
              <a:avLst/>
              <a:gdLst/>
              <a:ahLst/>
              <a:cxnLst/>
              <a:rect l="l" t="t" r="r" b="b"/>
              <a:pathLst>
                <a:path w="12435840" h="682752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A4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80"/>
            <p:cNvSpPr/>
            <p:nvPr/>
          </p:nvSpPr>
          <p:spPr>
            <a:xfrm>
              <a:off x="0" y="0"/>
              <a:ext cx="12469622" cy="716536"/>
            </a:xfrm>
            <a:custGeom>
              <a:avLst/>
              <a:gdLst/>
              <a:ahLst/>
              <a:cxnLst/>
              <a:rect l="l" t="t" r="r" b="b"/>
              <a:pathLst>
                <a:path w="12469622" h="716536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699643"/>
                  </a:lnTo>
                  <a:cubicBezTo>
                    <a:pt x="12469622" y="709041"/>
                    <a:pt x="12462002" y="716534"/>
                    <a:pt x="124527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2452731" y="682752"/>
                  </a:lnTo>
                  <a:lnTo>
                    <a:pt x="12452731" y="699643"/>
                  </a:lnTo>
                  <a:lnTo>
                    <a:pt x="12435840" y="699643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A4D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82000" y="465414"/>
            <a:ext cx="9403080" cy="1637325"/>
            <a:chOff x="-101600" y="0"/>
            <a:chExt cx="12537440" cy="21831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2435840" cy="682752"/>
            </a:xfrm>
            <a:custGeom>
              <a:avLst/>
              <a:gdLst/>
              <a:ahLst/>
              <a:cxnLst/>
              <a:rect l="l" t="t" r="r" b="b"/>
              <a:pathLst>
                <a:path w="12435840" h="682752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4906" b="-30490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-101600" y="1462248"/>
              <a:ext cx="124358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POST-EVENT: CLOSE IT STRONG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497562" y="2140582"/>
            <a:ext cx="9339577" cy="7730233"/>
            <a:chOff x="0" y="0"/>
            <a:chExt cx="12452769" cy="10306977"/>
          </a:xfrm>
        </p:grpSpPr>
        <p:sp>
          <p:nvSpPr>
            <p:cNvPr id="85" name="Freeform 85"/>
            <p:cNvSpPr/>
            <p:nvPr/>
          </p:nvSpPr>
          <p:spPr>
            <a:xfrm>
              <a:off x="8509" y="8509"/>
              <a:ext cx="12435840" cy="10290048"/>
            </a:xfrm>
            <a:custGeom>
              <a:avLst/>
              <a:gdLst/>
              <a:ahLst/>
              <a:cxnLst/>
              <a:rect l="l" t="t" r="r" b="b"/>
              <a:pathLst>
                <a:path w="12435840" h="10290048">
                  <a:moveTo>
                    <a:pt x="0" y="0"/>
                  </a:moveTo>
                  <a:lnTo>
                    <a:pt x="12435840" y="0"/>
                  </a:lnTo>
                  <a:lnTo>
                    <a:pt x="12435840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86"/>
            <p:cNvSpPr/>
            <p:nvPr/>
          </p:nvSpPr>
          <p:spPr>
            <a:xfrm>
              <a:off x="0" y="0"/>
              <a:ext cx="12452858" cy="10307065"/>
            </a:xfrm>
            <a:custGeom>
              <a:avLst/>
              <a:gdLst/>
              <a:ahLst/>
              <a:cxnLst/>
              <a:rect l="l" t="t" r="r" b="b"/>
              <a:pathLst>
                <a:path w="12452858" h="10307065">
                  <a:moveTo>
                    <a:pt x="8509" y="0"/>
                  </a:moveTo>
                  <a:lnTo>
                    <a:pt x="12444349" y="0"/>
                  </a:lnTo>
                  <a:cubicBezTo>
                    <a:pt x="12449048" y="0"/>
                    <a:pt x="12452858" y="3810"/>
                    <a:pt x="12452858" y="8509"/>
                  </a:cubicBezTo>
                  <a:lnTo>
                    <a:pt x="12452858" y="10298557"/>
                  </a:lnTo>
                  <a:cubicBezTo>
                    <a:pt x="12452858" y="10303256"/>
                    <a:pt x="12449048" y="10307065"/>
                    <a:pt x="12444349" y="10307065"/>
                  </a:cubicBezTo>
                  <a:lnTo>
                    <a:pt x="8509" y="10307065"/>
                  </a:lnTo>
                  <a:cubicBezTo>
                    <a:pt x="3810" y="10307065"/>
                    <a:pt x="0" y="10303256"/>
                    <a:pt x="0" y="102985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298557"/>
                  </a:lnTo>
                  <a:lnTo>
                    <a:pt x="8509" y="10298557"/>
                  </a:lnTo>
                  <a:lnTo>
                    <a:pt x="8509" y="10290048"/>
                  </a:lnTo>
                  <a:lnTo>
                    <a:pt x="12444349" y="10290048"/>
                  </a:lnTo>
                  <a:lnTo>
                    <a:pt x="12444349" y="10298557"/>
                  </a:lnTo>
                  <a:lnTo>
                    <a:pt x="12435840" y="10298557"/>
                  </a:lnTo>
                  <a:lnTo>
                    <a:pt x="12435840" y="8509"/>
                  </a:lnTo>
                  <a:lnTo>
                    <a:pt x="12444349" y="8509"/>
                  </a:lnTo>
                  <a:lnTo>
                    <a:pt x="12444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491218" y="2134238"/>
            <a:ext cx="9352283" cy="610619"/>
            <a:chOff x="0" y="0"/>
            <a:chExt cx="12469711" cy="814159"/>
          </a:xfrm>
        </p:grpSpPr>
        <p:sp>
          <p:nvSpPr>
            <p:cNvPr id="88" name="Freeform 88"/>
            <p:cNvSpPr/>
            <p:nvPr/>
          </p:nvSpPr>
          <p:spPr>
            <a:xfrm>
              <a:off x="16891" y="16891"/>
              <a:ext cx="12435840" cy="780288"/>
            </a:xfrm>
            <a:custGeom>
              <a:avLst/>
              <a:gdLst/>
              <a:ahLst/>
              <a:cxnLst/>
              <a:rect l="l" t="t" r="r" b="b"/>
              <a:pathLst>
                <a:path w="12435840" h="780288">
                  <a:moveTo>
                    <a:pt x="0" y="0"/>
                  </a:moveTo>
                  <a:lnTo>
                    <a:pt x="12435840" y="0"/>
                  </a:lnTo>
                  <a:lnTo>
                    <a:pt x="124358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A1E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9" name="Freeform 89"/>
            <p:cNvSpPr/>
            <p:nvPr/>
          </p:nvSpPr>
          <p:spPr>
            <a:xfrm>
              <a:off x="0" y="0"/>
              <a:ext cx="12469622" cy="814072"/>
            </a:xfrm>
            <a:custGeom>
              <a:avLst/>
              <a:gdLst/>
              <a:ahLst/>
              <a:cxnLst/>
              <a:rect l="l" t="t" r="r" b="b"/>
              <a:pathLst>
                <a:path w="12469622" h="814072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797179"/>
                  </a:lnTo>
                  <a:cubicBezTo>
                    <a:pt x="12469622" y="806577"/>
                    <a:pt x="12462002" y="814070"/>
                    <a:pt x="124527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2452731" y="780288"/>
                  </a:lnTo>
                  <a:lnTo>
                    <a:pt x="12452731" y="797179"/>
                  </a:lnTo>
                  <a:lnTo>
                    <a:pt x="12435840" y="797179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833099" y="2146935"/>
            <a:ext cx="7132320" cy="585216"/>
            <a:chOff x="0" y="0"/>
            <a:chExt cx="9509760" cy="78028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509760" cy="780288"/>
            </a:xfrm>
            <a:custGeom>
              <a:avLst/>
              <a:gdLst/>
              <a:ahLst/>
              <a:cxnLst/>
              <a:rect l="l" t="t" r="r" b="b"/>
              <a:pathLst>
                <a:path w="9509760" h="780288">
                  <a:moveTo>
                    <a:pt x="0" y="0"/>
                  </a:moveTo>
                  <a:lnTo>
                    <a:pt x="9509760" y="0"/>
                  </a:lnTo>
                  <a:lnTo>
                    <a:pt x="9509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7473" b="-18747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95097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0A8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Deliverable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6001995" y="2146935"/>
            <a:ext cx="1554480" cy="585216"/>
            <a:chOff x="0" y="0"/>
            <a:chExt cx="2072640" cy="78028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072640" cy="780288"/>
            </a:xfrm>
            <a:custGeom>
              <a:avLst/>
              <a:gdLst/>
              <a:ahLst/>
              <a:cxnLst/>
              <a:rect l="l" t="t" r="r" b="b"/>
              <a:pathLst>
                <a:path w="2072640" h="780288">
                  <a:moveTo>
                    <a:pt x="0" y="0"/>
                  </a:moveTo>
                  <a:lnTo>
                    <a:pt x="2072640" y="0"/>
                  </a:lnTo>
                  <a:lnTo>
                    <a:pt x="2072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57" b="-175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20726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0A8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501372" y="2766184"/>
            <a:ext cx="9331957" cy="773173"/>
            <a:chOff x="0" y="0"/>
            <a:chExt cx="12442609" cy="1030897"/>
          </a:xfrm>
        </p:grpSpPr>
        <p:sp>
          <p:nvSpPr>
            <p:cNvPr id="97" name="Freeform 97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98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833099" y="2768727"/>
            <a:ext cx="7095744" cy="768096"/>
            <a:chOff x="0" y="0"/>
            <a:chExt cx="9460992" cy="102412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media coverage report (volume, tier, reach, sentiment)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6001995" y="2768727"/>
            <a:ext cx="1554480" cy="768096"/>
            <a:chOff x="0" y="0"/>
            <a:chExt cx="2072640" cy="102412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3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8501372" y="3534280"/>
            <a:ext cx="9331957" cy="773173"/>
            <a:chOff x="0" y="0"/>
            <a:chExt cx="12442609" cy="1030897"/>
          </a:xfrm>
        </p:grpSpPr>
        <p:sp>
          <p:nvSpPr>
            <p:cNvPr id="106" name="Freeform 106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Freeform 107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8833099" y="3536823"/>
            <a:ext cx="7095744" cy="768096"/>
            <a:chOff x="0" y="0"/>
            <a:chExt cx="9460992" cy="102412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amplification — CEO clips, announcement highlights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6001995" y="3536823"/>
            <a:ext cx="1554480" cy="768096"/>
            <a:chOff x="0" y="0"/>
            <a:chExt cx="2072640" cy="1024128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Days 1-3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8501372" y="4302376"/>
            <a:ext cx="9331957" cy="773173"/>
            <a:chOff x="0" y="0"/>
            <a:chExt cx="12442609" cy="1030897"/>
          </a:xfrm>
        </p:grpSpPr>
        <p:sp>
          <p:nvSpPr>
            <p:cNvPr id="115" name="Freeform 115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33099" y="4304919"/>
            <a:ext cx="7095744" cy="768096"/>
            <a:chOff x="0" y="0"/>
            <a:chExt cx="9460992" cy="1024128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CRM update — all leads and conversations captured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6001995" y="4304919"/>
            <a:ext cx="1554480" cy="768096"/>
            <a:chOff x="0" y="0"/>
            <a:chExt cx="2072640" cy="1024128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2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501372" y="5070472"/>
            <a:ext cx="9331957" cy="773173"/>
            <a:chOff x="0" y="0"/>
            <a:chExt cx="12442609" cy="1030897"/>
          </a:xfrm>
        </p:grpSpPr>
        <p:sp>
          <p:nvSpPr>
            <p:cNvPr id="124" name="Freeform 124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25" name="Freeform 125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8833099" y="5073015"/>
            <a:ext cx="7095744" cy="768096"/>
            <a:chOff x="0" y="0"/>
            <a:chExt cx="9460992" cy="1024128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vs actual final report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6001995" y="5073015"/>
            <a:ext cx="1554480" cy="768096"/>
            <a:chOff x="0" y="0"/>
            <a:chExt cx="2072640" cy="1024128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7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8501372" y="5838568"/>
            <a:ext cx="9331957" cy="773173"/>
            <a:chOff x="0" y="0"/>
            <a:chExt cx="12442609" cy="1030897"/>
          </a:xfrm>
        </p:grpSpPr>
        <p:sp>
          <p:nvSpPr>
            <p:cNvPr id="133" name="Freeform 133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34" name="Freeform 134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8833099" y="5841111"/>
            <a:ext cx="7095744" cy="768096"/>
            <a:chOff x="0" y="0"/>
            <a:chExt cx="9460992" cy="1024128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Tahaluf post-event email campaign (Founding Partner benefit)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16001995" y="5841111"/>
            <a:ext cx="1554480" cy="768096"/>
            <a:chOff x="0" y="0"/>
            <a:chExt cx="2072640" cy="1024128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10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8501372" y="6606664"/>
            <a:ext cx="9331957" cy="773173"/>
            <a:chOff x="0" y="0"/>
            <a:chExt cx="12442609" cy="1030897"/>
          </a:xfrm>
        </p:grpSpPr>
        <p:sp>
          <p:nvSpPr>
            <p:cNvPr id="142" name="Freeform 142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0E1A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43" name="Freeform 143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8833099" y="6609207"/>
            <a:ext cx="7095744" cy="768096"/>
            <a:chOff x="0" y="0"/>
            <a:chExt cx="9460992" cy="1024128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Post-event leadership report (ROI vs pre-agreed targets)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16001995" y="6609207"/>
            <a:ext cx="1554480" cy="768096"/>
            <a:chOff x="0" y="0"/>
            <a:chExt cx="2072640" cy="1024128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7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8501372" y="7374760"/>
            <a:ext cx="9331957" cy="773173"/>
            <a:chOff x="0" y="0"/>
            <a:chExt cx="12442609" cy="1030897"/>
          </a:xfrm>
        </p:grpSpPr>
        <p:sp>
          <p:nvSpPr>
            <p:cNvPr id="151" name="Freeform 151"/>
            <p:cNvSpPr/>
            <p:nvPr/>
          </p:nvSpPr>
          <p:spPr>
            <a:xfrm>
              <a:off x="3429" y="3429"/>
              <a:ext cx="12435840" cy="1024128"/>
            </a:xfrm>
            <a:custGeom>
              <a:avLst/>
              <a:gdLst/>
              <a:ahLst/>
              <a:cxnLst/>
              <a:rect l="l" t="t" r="r" b="b"/>
              <a:pathLst>
                <a:path w="12435840" h="1024128">
                  <a:moveTo>
                    <a:pt x="0" y="0"/>
                  </a:moveTo>
                  <a:lnTo>
                    <a:pt x="12435840" y="0"/>
                  </a:lnTo>
                  <a:lnTo>
                    <a:pt x="124358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41B2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52" name="Freeform 152"/>
            <p:cNvSpPr/>
            <p:nvPr/>
          </p:nvSpPr>
          <p:spPr>
            <a:xfrm>
              <a:off x="0" y="0"/>
              <a:ext cx="12442698" cy="1030986"/>
            </a:xfrm>
            <a:custGeom>
              <a:avLst/>
              <a:gdLst/>
              <a:ahLst/>
              <a:cxnLst/>
              <a:rect l="l" t="t" r="r" b="b"/>
              <a:pathLst>
                <a:path w="12442698" h="1030986">
                  <a:moveTo>
                    <a:pt x="3429" y="0"/>
                  </a:moveTo>
                  <a:lnTo>
                    <a:pt x="12439269" y="0"/>
                  </a:lnTo>
                  <a:cubicBezTo>
                    <a:pt x="12441174" y="0"/>
                    <a:pt x="12442698" y="1524"/>
                    <a:pt x="12442698" y="3429"/>
                  </a:cubicBezTo>
                  <a:lnTo>
                    <a:pt x="12442698" y="1027557"/>
                  </a:lnTo>
                  <a:cubicBezTo>
                    <a:pt x="12442698" y="1029462"/>
                    <a:pt x="12441174" y="1030986"/>
                    <a:pt x="12439269" y="1030986"/>
                  </a:cubicBezTo>
                  <a:lnTo>
                    <a:pt x="3429" y="1030986"/>
                  </a:lnTo>
                  <a:cubicBezTo>
                    <a:pt x="1524" y="1030986"/>
                    <a:pt x="0" y="1029462"/>
                    <a:pt x="0" y="1027557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1027557"/>
                  </a:lnTo>
                  <a:lnTo>
                    <a:pt x="3429" y="1027557"/>
                  </a:lnTo>
                  <a:lnTo>
                    <a:pt x="3429" y="1024128"/>
                  </a:lnTo>
                  <a:lnTo>
                    <a:pt x="12439269" y="1024128"/>
                  </a:lnTo>
                  <a:lnTo>
                    <a:pt x="12439269" y="1027557"/>
                  </a:lnTo>
                  <a:lnTo>
                    <a:pt x="12435840" y="1027557"/>
                  </a:lnTo>
                  <a:lnTo>
                    <a:pt x="12435840" y="3429"/>
                  </a:lnTo>
                  <a:lnTo>
                    <a:pt x="12439269" y="3429"/>
                  </a:lnTo>
                  <a:lnTo>
                    <a:pt x="12439269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E2D45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3099" y="7377303"/>
            <a:ext cx="7095744" cy="768096"/>
            <a:chOff x="0" y="0"/>
            <a:chExt cx="9460992" cy="1024128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9460992" cy="1024128"/>
            </a:xfrm>
            <a:custGeom>
              <a:avLst/>
              <a:gdLst/>
              <a:ahLst/>
              <a:cxnLst/>
              <a:rect l="l" t="t" r="r" b="b"/>
              <a:pathLst>
                <a:path w="9460992" h="1024128">
                  <a:moveTo>
                    <a:pt x="0" y="0"/>
                  </a:moveTo>
                  <a:lnTo>
                    <a:pt x="9460992" y="0"/>
                  </a:lnTo>
                  <a:lnTo>
                    <a:pt x="94609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004" b="-13000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0" y="-38100"/>
              <a:ext cx="9460992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Partnership + MOU formal documentation</a:t>
              </a:r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6001995" y="7377303"/>
            <a:ext cx="1554480" cy="768096"/>
            <a:chOff x="0" y="0"/>
            <a:chExt cx="2072640" cy="1024128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2072640" cy="1024128"/>
            </a:xfrm>
            <a:custGeom>
              <a:avLst/>
              <a:gdLst/>
              <a:ahLst/>
              <a:cxnLst/>
              <a:rect l="l" t="t" r="r" b="b"/>
              <a:pathLst>
                <a:path w="2072640" h="1024128">
                  <a:moveTo>
                    <a:pt x="0" y="0"/>
                  </a:moveTo>
                  <a:lnTo>
                    <a:pt x="2072640" y="0"/>
                  </a:lnTo>
                  <a:lnTo>
                    <a:pt x="2072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97" r="-1339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0" y="-38100"/>
              <a:ext cx="20726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7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8498838" y="8140322"/>
            <a:ext cx="9337043" cy="1436627"/>
            <a:chOff x="0" y="0"/>
            <a:chExt cx="12449391" cy="1915503"/>
          </a:xfrm>
        </p:grpSpPr>
        <p:sp>
          <p:nvSpPr>
            <p:cNvPr id="160" name="Freeform 160"/>
            <p:cNvSpPr/>
            <p:nvPr/>
          </p:nvSpPr>
          <p:spPr>
            <a:xfrm>
              <a:off x="6731" y="6731"/>
              <a:ext cx="12435841" cy="1901952"/>
            </a:xfrm>
            <a:custGeom>
              <a:avLst/>
              <a:gdLst/>
              <a:ahLst/>
              <a:cxnLst/>
              <a:rect l="l" t="t" r="r" b="b"/>
              <a:pathLst>
                <a:path w="12435841" h="1901952">
                  <a:moveTo>
                    <a:pt x="0" y="0"/>
                  </a:moveTo>
                  <a:lnTo>
                    <a:pt x="12435841" y="0"/>
                  </a:lnTo>
                  <a:lnTo>
                    <a:pt x="1243584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1A1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61" name="Freeform 161"/>
            <p:cNvSpPr/>
            <p:nvPr/>
          </p:nvSpPr>
          <p:spPr>
            <a:xfrm>
              <a:off x="0" y="0"/>
              <a:ext cx="12449302" cy="1915414"/>
            </a:xfrm>
            <a:custGeom>
              <a:avLst/>
              <a:gdLst/>
              <a:ahLst/>
              <a:cxnLst/>
              <a:rect l="l" t="t" r="r" b="b"/>
              <a:pathLst>
                <a:path w="12449302" h="1915414">
                  <a:moveTo>
                    <a:pt x="6731" y="0"/>
                  </a:moveTo>
                  <a:lnTo>
                    <a:pt x="12442572" y="0"/>
                  </a:lnTo>
                  <a:cubicBezTo>
                    <a:pt x="12446254" y="0"/>
                    <a:pt x="12449302" y="3048"/>
                    <a:pt x="12449302" y="6731"/>
                  </a:cubicBezTo>
                  <a:lnTo>
                    <a:pt x="12449302" y="1908683"/>
                  </a:lnTo>
                  <a:cubicBezTo>
                    <a:pt x="12449302" y="1912366"/>
                    <a:pt x="12446254" y="1915414"/>
                    <a:pt x="12442572" y="1915414"/>
                  </a:cubicBezTo>
                  <a:lnTo>
                    <a:pt x="6731" y="1915414"/>
                  </a:lnTo>
                  <a:cubicBezTo>
                    <a:pt x="3048" y="1915414"/>
                    <a:pt x="0" y="1912366"/>
                    <a:pt x="0" y="19086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908683"/>
                  </a:lnTo>
                  <a:lnTo>
                    <a:pt x="6731" y="1908683"/>
                  </a:lnTo>
                  <a:lnTo>
                    <a:pt x="6731" y="1901952"/>
                  </a:lnTo>
                  <a:lnTo>
                    <a:pt x="12442572" y="1901952"/>
                  </a:lnTo>
                  <a:lnTo>
                    <a:pt x="12442572" y="1908683"/>
                  </a:lnTo>
                  <a:lnTo>
                    <a:pt x="12435840" y="1908683"/>
                  </a:lnTo>
                  <a:lnTo>
                    <a:pt x="12435840" y="6731"/>
                  </a:lnTo>
                  <a:lnTo>
                    <a:pt x="12442572" y="6731"/>
                  </a:lnTo>
                  <a:lnTo>
                    <a:pt x="12442572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62" name="Group 162"/>
          <p:cNvGrpSpPr/>
          <p:nvPr/>
        </p:nvGrpSpPr>
        <p:grpSpPr>
          <a:xfrm>
            <a:off x="8491218" y="8132702"/>
            <a:ext cx="116843" cy="1451867"/>
            <a:chOff x="0" y="0"/>
            <a:chExt cx="155791" cy="1935823"/>
          </a:xfrm>
        </p:grpSpPr>
        <p:sp>
          <p:nvSpPr>
            <p:cNvPr id="163" name="Freeform 163"/>
            <p:cNvSpPr/>
            <p:nvPr/>
          </p:nvSpPr>
          <p:spPr>
            <a:xfrm>
              <a:off x="16891" y="16891"/>
              <a:ext cx="121920" cy="1901952"/>
            </a:xfrm>
            <a:custGeom>
              <a:avLst/>
              <a:gdLst/>
              <a:ahLst/>
              <a:cxnLst/>
              <a:rect l="l" t="t" r="r" b="b"/>
              <a:pathLst>
                <a:path w="121920" h="1901952">
                  <a:moveTo>
                    <a:pt x="0" y="0"/>
                  </a:moveTo>
                  <a:lnTo>
                    <a:pt x="121920" y="0"/>
                  </a:lnTo>
                  <a:lnTo>
                    <a:pt x="1219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64" name="Freeform 164"/>
            <p:cNvSpPr/>
            <p:nvPr/>
          </p:nvSpPr>
          <p:spPr>
            <a:xfrm>
              <a:off x="0" y="0"/>
              <a:ext cx="155702" cy="1935734"/>
            </a:xfrm>
            <a:custGeom>
              <a:avLst/>
              <a:gdLst/>
              <a:ahLst/>
              <a:cxnLst/>
              <a:rect l="l" t="t" r="r" b="b"/>
              <a:pathLst>
                <a:path w="155702" h="1935734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918843"/>
                  </a:lnTo>
                  <a:cubicBezTo>
                    <a:pt x="155702" y="1928241"/>
                    <a:pt x="148082" y="1935734"/>
                    <a:pt x="1388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8811" y="1901952"/>
                  </a:lnTo>
                  <a:lnTo>
                    <a:pt x="138811" y="1918843"/>
                  </a:lnTo>
                  <a:lnTo>
                    <a:pt x="121920" y="1918843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6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8833099" y="8255127"/>
            <a:ext cx="6766560" cy="402336"/>
            <a:chOff x="0" y="0"/>
            <a:chExt cx="9022080" cy="536448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9022080" cy="536448"/>
            </a:xfrm>
            <a:custGeom>
              <a:avLst/>
              <a:gdLst/>
              <a:ahLst/>
              <a:cxnLst/>
              <a:rect l="l" t="t" r="r" b="b"/>
              <a:pathLst>
                <a:path w="9022080" h="536448">
                  <a:moveTo>
                    <a:pt x="0" y="0"/>
                  </a:moveTo>
                  <a:lnTo>
                    <a:pt x="9022080" y="0"/>
                  </a:lnTo>
                  <a:lnTo>
                    <a:pt x="9022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702" b="-27770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0" y="-38100"/>
              <a:ext cx="90220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FOR FUTURE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8833099" y="8694039"/>
            <a:ext cx="6766560" cy="694944"/>
            <a:chOff x="0" y="0"/>
            <a:chExt cx="9022080" cy="926592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9022080" cy="926592"/>
            </a:xfrm>
            <a:custGeom>
              <a:avLst/>
              <a:gdLst/>
              <a:ahLst/>
              <a:cxnLst/>
              <a:rect l="l" t="t" r="r" b="b"/>
              <a:pathLst>
                <a:path w="9022080" h="926592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9722" b="-13972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0" y="-38100"/>
              <a:ext cx="902208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</a:t>
              </a:r>
              <a:r>
                <a:rPr lang="en-US" sz="1700" u="sng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3" tooltip="https://tamara-casestudy.vercel.app/Framework_6_Lessons_Learned_Log.html"/>
                </a:rPr>
                <a:t>Lessons Learned Log</a:t>
              </a: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2.  </a:t>
              </a:r>
              <a:r>
                <a:rPr lang="en-US" sz="1700" u="sng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tamara-casestudy.vercel.app/Framework_5_PostEvent_ROI_Dashboard.html"/>
                </a:rPr>
                <a:t>ROI Dashboard</a:t>
              </a: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3.  </a:t>
              </a:r>
              <a:r>
                <a:rPr lang="en-US" sz="1700" u="sng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tamara-casestudy.vercel.app/Framework_1_Sponsorship_Evaluation_Scorecard.html"/>
                </a:rPr>
                <a:t>Sponsorship Evaluation Scorecard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16001995" y="8145399"/>
            <a:ext cx="1554480" cy="1426464"/>
            <a:chOff x="0" y="0"/>
            <a:chExt cx="2072640" cy="1901952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2072640" cy="1901952"/>
            </a:xfrm>
            <a:custGeom>
              <a:avLst/>
              <a:gdLst/>
              <a:ahLst/>
              <a:cxnLst/>
              <a:rect l="l" t="t" r="r" b="b"/>
              <a:pathLst>
                <a:path w="2072640" h="1901952">
                  <a:moveTo>
                    <a:pt x="0" y="0"/>
                  </a:moveTo>
                  <a:lnTo>
                    <a:pt x="2072640" y="0"/>
                  </a:lnTo>
                  <a:lnTo>
                    <a:pt x="20726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37" r="-6773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0" y="-38100"/>
              <a:ext cx="2072640" cy="194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days</a:t>
              </a:r>
            </a:p>
            <a:p>
              <a:pPr algn="l">
                <a:lnSpc>
                  <a:spcPts val="2039"/>
                </a:lnSpc>
              </a:pPr>
              <a:r>
                <a:rPr lang="en-US" sz="1700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sp>
        <p:nvSpPr>
          <p:cNvPr id="174" name="Freeform 174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75" name="Freeform 175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76" name="Freeform 176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77" name="TextBox 177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443" b="1" spc="-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37028"/>
            <a:ext cx="16459200" cy="925144"/>
            <a:chOff x="0" y="0"/>
            <a:chExt cx="21945600" cy="1233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233526"/>
            </a:xfrm>
            <a:custGeom>
              <a:avLst/>
              <a:gdLst/>
              <a:ahLst/>
              <a:cxnLst/>
              <a:rect l="l" t="t" r="r" b="b"/>
              <a:pathLst>
                <a:path w="21945600" h="1233526">
                  <a:moveTo>
                    <a:pt x="0" y="0"/>
                  </a:moveTo>
                  <a:lnTo>
                    <a:pt x="21945600" y="0"/>
                  </a:lnTo>
                  <a:lnTo>
                    <a:pt x="21945600" y="1233526"/>
                  </a:lnTo>
                  <a:lnTo>
                    <a:pt x="0" y="1233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9098" b="-28421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243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dirty="0">
                  <a:solidFill>
                    <a:srgbClr val="F5F7F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ROI FRAMEWORK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805124"/>
            <a:ext cx="16459200" cy="438912"/>
            <a:chOff x="0" y="0"/>
            <a:chExt cx="2194560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585216"/>
            </a:xfrm>
            <a:custGeom>
              <a:avLst/>
              <a:gdLst/>
              <a:ahLst/>
              <a:cxnLst/>
              <a:rect l="l" t="t" r="r" b="b"/>
              <a:pathLst>
                <a:path w="21945600" h="585216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0688" b="-68068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4560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9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metric agreed before the event. Every target justified. Every result accountable.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0739" y="4795992"/>
            <a:ext cx="6264061" cy="845232"/>
            <a:chOff x="0" y="0"/>
            <a:chExt cx="8352082" cy="11269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52082" cy="1126976"/>
            </a:xfrm>
            <a:custGeom>
              <a:avLst/>
              <a:gdLst/>
              <a:ahLst/>
              <a:cxnLst/>
              <a:rect l="l" t="t" r="r" b="b"/>
              <a:pathLst>
                <a:path w="8352082" h="1126976">
                  <a:moveTo>
                    <a:pt x="0" y="0"/>
                  </a:moveTo>
                  <a:lnTo>
                    <a:pt x="8352082" y="0"/>
                  </a:lnTo>
                  <a:lnTo>
                    <a:pt x="8352082" y="1126976"/>
                  </a:lnTo>
                  <a:lnTo>
                    <a:pt x="0" y="1126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8322" r="-162756" b="-32054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8352082" cy="1193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u="sng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tamara-casestudy.vercel.app/Framework_5_PostEvent_ROI_Dashboard.html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ROI Interactive Dashboard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93200" y="3452605"/>
            <a:ext cx="3990510" cy="5438515"/>
            <a:chOff x="0" y="0"/>
            <a:chExt cx="5320680" cy="72513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20680" cy="7251353"/>
            </a:xfrm>
            <a:custGeom>
              <a:avLst/>
              <a:gdLst/>
              <a:ahLst/>
              <a:cxnLst/>
              <a:rect l="l" t="t" r="r" b="b"/>
              <a:pathLst>
                <a:path w="5320680" h="7251353">
                  <a:moveTo>
                    <a:pt x="0" y="0"/>
                  </a:moveTo>
                  <a:lnTo>
                    <a:pt x="5320680" y="0"/>
                  </a:lnTo>
                  <a:lnTo>
                    <a:pt x="5320680" y="7251353"/>
                  </a:lnTo>
                  <a:lnTo>
                    <a:pt x="0" y="725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3571" y="1955274"/>
              <a:ext cx="4853539" cy="414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953">
                  <a:solidFill>
                    <a:srgbClr val="171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Booth Visitors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3571" y="3417005"/>
              <a:ext cx="4853539" cy="414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953">
                  <a:solidFill>
                    <a:srgbClr val="171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Meetings held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3571" y="4907498"/>
              <a:ext cx="4853539" cy="414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953">
                  <a:solidFill>
                    <a:srgbClr val="171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Qualified Leads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3571" y="6385292"/>
              <a:ext cx="4853539" cy="414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953">
                  <a:solidFill>
                    <a:srgbClr val="171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Deals Closed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3571" y="470633"/>
              <a:ext cx="4853539" cy="414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953">
                  <a:solidFill>
                    <a:srgbClr val="171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Attendees reached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537810" y="5584074"/>
            <a:ext cx="2682093" cy="196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4514" lvl="1" indent="-347257" algn="l">
              <a:lnSpc>
                <a:spcPts val="3860"/>
              </a:lnSpc>
              <a:buFont typeface="Arial"/>
              <a:buChar char="•"/>
            </a:pPr>
            <a:r>
              <a:rPr lang="en-US" sz="321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Brand</a:t>
            </a:r>
          </a:p>
          <a:p>
            <a:pPr marL="694514" lvl="1" indent="-347257" algn="l">
              <a:lnSpc>
                <a:spcPts val="3860"/>
              </a:lnSpc>
              <a:buFont typeface="Arial"/>
              <a:buChar char="•"/>
            </a:pPr>
            <a:r>
              <a:rPr lang="en-US" sz="321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Operations</a:t>
            </a:r>
          </a:p>
          <a:p>
            <a:pPr marL="694514" lvl="1" indent="-347257" algn="l">
              <a:lnSpc>
                <a:spcPts val="3860"/>
              </a:lnSpc>
              <a:buFont typeface="Arial"/>
              <a:buChar char="•"/>
            </a:pPr>
            <a:r>
              <a:rPr lang="en-US" sz="321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Commercial</a:t>
            </a:r>
          </a:p>
          <a:p>
            <a:pPr marL="694514" lvl="1" indent="-347257" algn="l">
              <a:lnSpc>
                <a:spcPts val="3860"/>
              </a:lnSpc>
              <a:buFont typeface="Arial"/>
              <a:buChar char="•"/>
            </a:pPr>
            <a:r>
              <a:rPr lang="en-US" sz="3216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Strategic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44015" y="356221"/>
            <a:ext cx="125522" cy="125522"/>
          </a:xfrm>
          <a:custGeom>
            <a:avLst/>
            <a:gdLst/>
            <a:ahLst/>
            <a:cxnLst/>
            <a:rect l="l" t="t" r="r" b="b"/>
            <a:pathLst>
              <a:path w="125522" h="125522">
                <a:moveTo>
                  <a:pt x="0" y="0"/>
                </a:moveTo>
                <a:lnTo>
                  <a:pt x="125522" y="0"/>
                </a:lnTo>
                <a:lnTo>
                  <a:pt x="125522" y="125522"/>
                </a:lnTo>
                <a:lnTo>
                  <a:pt x="0" y="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0" name="Freeform 20"/>
          <p:cNvSpPr/>
          <p:nvPr/>
        </p:nvSpPr>
        <p:spPr>
          <a:xfrm>
            <a:off x="220492" y="274957"/>
            <a:ext cx="969899" cy="264972"/>
          </a:xfrm>
          <a:custGeom>
            <a:avLst/>
            <a:gdLst/>
            <a:ahLst/>
            <a:cxnLst/>
            <a:rect l="l" t="t" r="r" b="b"/>
            <a:pathLst>
              <a:path w="969899" h="264972">
                <a:moveTo>
                  <a:pt x="0" y="0"/>
                </a:moveTo>
                <a:lnTo>
                  <a:pt x="969899" y="0"/>
                </a:lnTo>
                <a:lnTo>
                  <a:pt x="969899" y="264972"/>
                </a:lnTo>
                <a:lnTo>
                  <a:pt x="0" y="264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1" name="Freeform 21"/>
          <p:cNvSpPr/>
          <p:nvPr/>
        </p:nvSpPr>
        <p:spPr>
          <a:xfrm>
            <a:off x="1910533" y="312422"/>
            <a:ext cx="531700" cy="223979"/>
          </a:xfrm>
          <a:custGeom>
            <a:avLst/>
            <a:gdLst/>
            <a:ahLst/>
            <a:cxnLst/>
            <a:rect l="l" t="t" r="r" b="b"/>
            <a:pathLst>
              <a:path w="531700" h="223979">
                <a:moveTo>
                  <a:pt x="0" y="0"/>
                </a:moveTo>
                <a:lnTo>
                  <a:pt x="531700" y="0"/>
                </a:lnTo>
                <a:lnTo>
                  <a:pt x="531700" y="223979"/>
                </a:lnTo>
                <a:lnTo>
                  <a:pt x="0" y="223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2" name="TextBox 22"/>
          <p:cNvSpPr txBox="1"/>
          <p:nvPr/>
        </p:nvSpPr>
        <p:spPr>
          <a:xfrm>
            <a:off x="1476490" y="340698"/>
            <a:ext cx="85784" cy="1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443" b="1" spc="-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8760760" y="2748861"/>
            <a:ext cx="0" cy="6846003"/>
          </a:xfrm>
          <a:prstGeom prst="line">
            <a:avLst/>
          </a:prstGeom>
          <a:ln w="9525" cap="rnd">
            <a:gradFill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00158" cy="10287000"/>
          </a:xfrm>
          <a:custGeom>
            <a:avLst/>
            <a:gdLst/>
            <a:ahLst/>
            <a:cxnLst/>
            <a:rect l="l" t="t" r="r" b="b"/>
            <a:pathLst>
              <a:path w="7500158" h="10287000">
                <a:moveTo>
                  <a:pt x="0" y="0"/>
                </a:moveTo>
                <a:lnTo>
                  <a:pt x="7500158" y="0"/>
                </a:lnTo>
                <a:lnTo>
                  <a:pt x="7500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 rot="-10800000">
            <a:off x="10787842" y="0"/>
            <a:ext cx="7500158" cy="10287000"/>
          </a:xfrm>
          <a:custGeom>
            <a:avLst/>
            <a:gdLst/>
            <a:ahLst/>
            <a:cxnLst/>
            <a:rect l="l" t="t" r="r" b="b"/>
            <a:pathLst>
              <a:path w="7500158" h="10287000">
                <a:moveTo>
                  <a:pt x="0" y="0"/>
                </a:moveTo>
                <a:lnTo>
                  <a:pt x="7500158" y="0"/>
                </a:lnTo>
                <a:lnTo>
                  <a:pt x="7500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630847" y="9667248"/>
            <a:ext cx="9144000" cy="329184"/>
            <a:chOff x="0" y="0"/>
            <a:chExt cx="12192000" cy="4389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0" cy="438912"/>
            </a:xfrm>
            <a:custGeom>
              <a:avLst/>
              <a:gdLst/>
              <a:ahLst/>
              <a:cxnLst/>
              <a:rect l="l" t="t" r="r" b="b"/>
              <a:pathLst>
                <a:path w="12192000" h="438912">
                  <a:moveTo>
                    <a:pt x="0" y="0"/>
                  </a:moveTo>
                  <a:lnTo>
                    <a:pt x="12192000" y="0"/>
                  </a:lnTo>
                  <a:lnTo>
                    <a:pt x="12192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1251" b="-49125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192000" cy="4770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300" normalizeH="0" baseline="0" noProof="0">
                  <a:ln>
                    <a:noFill/>
                  </a:ln>
                  <a:solidFill>
                    <a:srgbClr val="8A9BB0">
                      <a:alpha val="58824"/>
                    </a:srgbClr>
                  </a:solidFill>
                  <a:effectLst/>
                  <a:uLnTx/>
                  <a:uFillTx/>
                  <a:latin typeface="Calibri (MS)"/>
                  <a:ea typeface="Calibri (MS)"/>
                  <a:cs typeface="Calibri (MS)"/>
                  <a:sym typeface="Calibri (MS)"/>
                </a:rPr>
                <a:t>TAMARA  ·  PMO COMMUNICATIONS  ·  QADR ARSLAN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965678"/>
            <a:ext cx="1345308" cy="25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9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82" b="0" i="0" u="none" strike="noStrike" kern="1200" cap="none" spc="-299" normalizeH="0" baseline="0" noProof="0">
                <a:ln>
                  <a:noFill/>
                </a:ln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74008" y="5150272"/>
            <a:ext cx="747839" cy="25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9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82" b="0" i="0" u="none" strike="noStrike" kern="1200" cap="none" spc="-299" normalizeH="0" baseline="0" noProof="0">
                <a:ln>
                  <a:noFill/>
                </a:ln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01740" y="2589440"/>
            <a:ext cx="8342327" cy="460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67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910" b="0" i="0" u="none" strike="noStrike" kern="1200" cap="none" spc="-538" normalizeH="0" baseline="0" noProof="0">
                <a:ln>
                  <a:noFill/>
                </a:ln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100x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74141" y="3569877"/>
            <a:ext cx="4291023" cy="11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76" b="0" i="0" u="none" strike="noStrike" kern="1200" cap="none" spc="-129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ambiguity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7145" y="6043781"/>
            <a:ext cx="2027061" cy="11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76" b="0" i="0" u="none" strike="noStrike" kern="1200" cap="none" spc="-129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plan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01740" y="5723077"/>
            <a:ext cx="4171164" cy="146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6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17" b="0" i="0" u="none" strike="noStrike" kern="1200" cap="none" spc="-172" normalizeH="0" baseline="0" noProof="0">
                <a:ln>
                  <a:noFill/>
                </a:ln>
                <a:gradFill>
                  <a:gsLst>
                    <a:gs pos="0">
                      <a:srgbClr val="7ED957">
                        <a:alpha val="100000"/>
                      </a:srgbClr>
                    </a:gs>
                    <a:gs pos="100000">
                      <a:srgbClr val="0097B2">
                        <a:alpha val="100000"/>
                      </a:srgbClr>
                    </a:gs>
                  </a:gsLst>
                  <a:lin ang="0"/>
                </a:gra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impact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2678531" y="7112381"/>
            <a:ext cx="19368320" cy="0"/>
          </a:xfrm>
          <a:prstGeom prst="line">
            <a:avLst/>
          </a:prstGeom>
          <a:ln w="28575" cap="rnd">
            <a:gradFill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1337</Words>
  <Application>Microsoft Office PowerPoint</Application>
  <PresentationFormat>Custom</PresentationFormat>
  <Paragraphs>227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League Spartan</vt:lpstr>
      <vt:lpstr>Calibri (MS) Bold</vt:lpstr>
      <vt:lpstr>Calibri</vt:lpstr>
      <vt:lpstr>TT Hoves Bold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Tamara PMO Case Study_QadrArslan</dc:title>
  <cp:lastModifiedBy>Arslan, Qadr</cp:lastModifiedBy>
  <cp:revision>3</cp:revision>
  <dcterms:created xsi:type="dcterms:W3CDTF">2006-08-16T00:00:00Z</dcterms:created>
  <dcterms:modified xsi:type="dcterms:W3CDTF">2026-05-04T20:47:29Z</dcterms:modified>
  <dc:identifier>DAHInnDXkHY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1de76be-9bfa-4162-a0ea-3fa99f3af264_Enabled">
    <vt:lpwstr>true</vt:lpwstr>
  </property>
  <property fmtid="{D5CDD505-2E9C-101B-9397-08002B2CF9AE}" pid="3" name="MSIP_Label_d1de76be-9bfa-4162-a0ea-3fa99f3af264_SetDate">
    <vt:lpwstr>2026-05-04T03:51:05Z</vt:lpwstr>
  </property>
  <property fmtid="{D5CDD505-2E9C-101B-9397-08002B2CF9AE}" pid="4" name="MSIP_Label_d1de76be-9bfa-4162-a0ea-3fa99f3af264_Method">
    <vt:lpwstr>Privileged</vt:lpwstr>
  </property>
  <property fmtid="{D5CDD505-2E9C-101B-9397-08002B2CF9AE}" pid="5" name="MSIP_Label_d1de76be-9bfa-4162-a0ea-3fa99f3af264_Name">
    <vt:lpwstr>Public</vt:lpwstr>
  </property>
  <property fmtid="{D5CDD505-2E9C-101B-9397-08002B2CF9AE}" pid="6" name="MSIP_Label_d1de76be-9bfa-4162-a0ea-3fa99f3af264_SiteId">
    <vt:lpwstr>3596192b-fdf5-4e2c-a6fa-acb706c963d8</vt:lpwstr>
  </property>
  <property fmtid="{D5CDD505-2E9C-101B-9397-08002B2CF9AE}" pid="7" name="MSIP_Label_d1de76be-9bfa-4162-a0ea-3fa99f3af264_ActionId">
    <vt:lpwstr>657193be-681e-4f7a-a750-2027f4f623bc</vt:lpwstr>
  </property>
  <property fmtid="{D5CDD505-2E9C-101B-9397-08002B2CF9AE}" pid="8" name="MSIP_Label_d1de76be-9bfa-4162-a0ea-3fa99f3af264_ContentBits">
    <vt:lpwstr>0</vt:lpwstr>
  </property>
  <property fmtid="{D5CDD505-2E9C-101B-9397-08002B2CF9AE}" pid="9" name="MSIP_Label_d1de76be-9bfa-4162-a0ea-3fa99f3af264_Tag">
    <vt:lpwstr>10, 0, 1, 1</vt:lpwstr>
  </property>
</Properties>
</file>